
<file path=[Content_Types].xml><?xml version="1.0" encoding="utf-8"?>
<Types xmlns="http://schemas.openxmlformats.org/package/2006/content-types">
  <Default Extension="jpeg" ContentType="image/jpeg"/>
  <Default Extension="wav" ContentType="audio/x-wav"/>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78" r:id="rId3"/>
    <p:sldId id="280" r:id="rId4"/>
    <p:sldId id="279" r:id="rId5"/>
    <p:sldId id="281" r:id="rId6"/>
    <p:sldId id="282" r:id="rId7"/>
    <p:sldId id="288" r:id="rId8"/>
    <p:sldId id="283" r:id="rId9"/>
    <p:sldId id="289" r:id="rId10"/>
    <p:sldId id="290" r:id="rId11"/>
    <p:sldId id="284" r:id="rId12"/>
    <p:sldId id="285" r:id="rId13"/>
    <p:sldId id="286" r:id="rId14"/>
    <p:sldId id="287" r:id="rId15"/>
    <p:sldId id="257" r:id="rId16"/>
    <p:sldId id="258" r:id="rId17"/>
    <p:sldId id="259" r:id="rId18"/>
    <p:sldId id="260" r:id="rId19"/>
    <p:sldId id="261" r:id="rId20"/>
    <p:sldId id="262" r:id="rId21"/>
    <p:sldId id="275" r:id="rId22"/>
    <p:sldId id="265" r:id="rId23"/>
    <p:sldId id="266" r:id="rId24"/>
    <p:sldId id="267" r:id="rId25"/>
    <p:sldId id="268" r:id="rId26"/>
    <p:sldId id="269" r:id="rId27"/>
    <p:sldId id="270" r:id="rId28"/>
    <p:sldId id="271" r:id="rId29"/>
    <p:sldId id="272" r:id="rId30"/>
    <p:sldId id="273" r:id="rId31"/>
    <p:sldId id="274" r:id="rId3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5" d="100"/>
          <a:sy n="85" d="100"/>
        </p:scale>
        <p:origin x="-1122"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notesMaster" Target="notesMasters/notesMaster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what else can you think of?</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fld id="{530820CF-B880-4189-942D-D702A7CBA730}" type="datetimeFigureOut">
              <a:rPr lang="zh-CN" altLang="en-US" smtClean="0"/>
            </a:fld>
            <a:endParaRPr lang="zh-CN" altLang="en-US"/>
          </a:p>
        </p:txBody>
      </p:sp>
      <p:sp>
        <p:nvSpPr>
          <p:cNvPr id="5" name="Rectangle 5"/>
          <p:cNvSpPr>
            <a:spLocks noGrp="1" noChangeArrowheads="1"/>
          </p:cNvSpPr>
          <p:nvPr>
            <p:ph type="ftr" sz="quarter" idx="11"/>
          </p:nvPr>
        </p:nvSpPr>
        <p:spPr/>
        <p:txBody>
          <a:bodyPr/>
          <a:lstStyle>
            <a:lvl1pPr>
              <a:defRPr/>
            </a:lvl1pPr>
          </a:lstStyle>
          <a:p>
            <a:endParaRPr lang="zh-CN" altLang="en-US"/>
          </a:p>
        </p:txBody>
      </p:sp>
      <p:sp>
        <p:nvSpPr>
          <p:cNvPr id="6" name="Rectangle 6"/>
          <p:cNvSpPr>
            <a:spLocks noGrp="1" noChangeArrowheads="1"/>
          </p:cNvSpPr>
          <p:nvPr>
            <p:ph type="sldNum" sz="quarter" idx="12"/>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fld id="{530820CF-B880-4189-942D-D702A7CBA730}" type="datetimeFigureOut">
              <a:rPr lang="zh-CN" altLang="en-US" smtClean="0"/>
            </a:fld>
            <a:endParaRPr lang="zh-CN" altLang="en-US"/>
          </a:p>
        </p:txBody>
      </p:sp>
      <p:sp>
        <p:nvSpPr>
          <p:cNvPr id="5" name="Rectangle 5"/>
          <p:cNvSpPr>
            <a:spLocks noGrp="1" noChangeArrowheads="1"/>
          </p:cNvSpPr>
          <p:nvPr>
            <p:ph type="ftr" sz="quarter" idx="11"/>
          </p:nvPr>
        </p:nvSpPr>
        <p:spPr/>
        <p:txBody>
          <a:bodyPr/>
          <a:lstStyle>
            <a:lvl1pPr>
              <a:defRPr/>
            </a:lvl1pPr>
          </a:lstStyle>
          <a:p>
            <a:endParaRPr lang="zh-CN" altLang="en-US"/>
          </a:p>
        </p:txBody>
      </p:sp>
      <p:sp>
        <p:nvSpPr>
          <p:cNvPr id="6" name="Rectangle 6"/>
          <p:cNvSpPr>
            <a:spLocks noGrp="1" noChangeArrowheads="1"/>
          </p:cNvSpPr>
          <p:nvPr>
            <p:ph type="sldNum" sz="quarter" idx="12"/>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4"/>
          <p:cNvSpPr>
            <a:spLocks noGrp="1" noChangeArrowheads="1"/>
          </p:cNvSpPr>
          <p:nvPr>
            <p:ph type="dt" sz="half" idx="10"/>
          </p:nvPr>
        </p:nvSpPr>
        <p:spPr/>
        <p:txBody>
          <a:bodyPr/>
          <a:lstStyle>
            <a:lvl1pPr>
              <a:defRPr/>
            </a:lvl1pPr>
          </a:lstStyle>
          <a:p>
            <a:fld id="{530820CF-B880-4189-942D-D702A7CBA730}" type="datetimeFigureOut">
              <a:rPr lang="zh-CN" altLang="en-US" smtClean="0"/>
            </a:fld>
            <a:endParaRPr lang="zh-CN" altLang="en-US"/>
          </a:p>
        </p:txBody>
      </p:sp>
      <p:sp>
        <p:nvSpPr>
          <p:cNvPr id="5" name="Rectangle 5"/>
          <p:cNvSpPr>
            <a:spLocks noGrp="1" noChangeArrowheads="1"/>
          </p:cNvSpPr>
          <p:nvPr>
            <p:ph type="ftr" sz="quarter" idx="11"/>
          </p:nvPr>
        </p:nvSpPr>
        <p:spPr/>
        <p:txBody>
          <a:bodyPr/>
          <a:lstStyle>
            <a:lvl1pPr>
              <a:defRPr/>
            </a:lvl1pPr>
          </a:lstStyle>
          <a:p>
            <a:endParaRPr lang="zh-CN" altLang="en-US"/>
          </a:p>
        </p:txBody>
      </p:sp>
      <p:sp>
        <p:nvSpPr>
          <p:cNvPr id="6" name="Rectangle 6"/>
          <p:cNvSpPr>
            <a:spLocks noGrp="1" noChangeArrowheads="1"/>
          </p:cNvSpPr>
          <p:nvPr>
            <p:ph type="sldNum" sz="quarter" idx="12"/>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fld id="{530820CF-B880-4189-942D-D702A7CBA730}" type="datetimeFigureOut">
              <a:rPr lang="zh-CN" altLang="en-US" smtClean="0"/>
            </a:fld>
            <a:endParaRPr lang="zh-CN" altLang="en-US"/>
          </a:p>
        </p:txBody>
      </p:sp>
      <p:sp>
        <p:nvSpPr>
          <p:cNvPr id="6" name="Rectangle 5"/>
          <p:cNvSpPr>
            <a:spLocks noGrp="1" noChangeArrowheads="1"/>
          </p:cNvSpPr>
          <p:nvPr>
            <p:ph type="ftr" sz="quarter" idx="11"/>
          </p:nvPr>
        </p:nvSpPr>
        <p:spPr/>
        <p:txBody>
          <a:bodyPr/>
          <a:lstStyle>
            <a:lvl1pPr>
              <a:defRPr/>
            </a:lvl1pPr>
          </a:lstStyle>
          <a:p>
            <a:endParaRPr lang="zh-CN" altLang="en-US"/>
          </a:p>
        </p:txBody>
      </p:sp>
      <p:sp>
        <p:nvSpPr>
          <p:cNvPr id="7" name="Rectangle 6"/>
          <p:cNvSpPr>
            <a:spLocks noGrp="1" noChangeArrowheads="1"/>
          </p:cNvSpPr>
          <p:nvPr>
            <p:ph type="sldNum" sz="quarter" idx="12"/>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fld id="{530820CF-B880-4189-942D-D702A7CBA730}" type="datetimeFigureOut">
              <a:rPr lang="zh-CN" altLang="en-US" smtClean="0"/>
            </a:fld>
            <a:endParaRPr lang="zh-CN" altLang="en-US"/>
          </a:p>
        </p:txBody>
      </p:sp>
      <p:sp>
        <p:nvSpPr>
          <p:cNvPr id="8" name="Rectangle 5"/>
          <p:cNvSpPr>
            <a:spLocks noGrp="1" noChangeArrowheads="1"/>
          </p:cNvSpPr>
          <p:nvPr>
            <p:ph type="ftr" sz="quarter" idx="11"/>
          </p:nvPr>
        </p:nvSpPr>
        <p:spPr/>
        <p:txBody>
          <a:bodyPr/>
          <a:lstStyle>
            <a:lvl1pPr>
              <a:defRPr/>
            </a:lvl1pPr>
          </a:lstStyle>
          <a:p>
            <a:endParaRPr lang="zh-CN" altLang="en-US"/>
          </a:p>
        </p:txBody>
      </p:sp>
      <p:sp>
        <p:nvSpPr>
          <p:cNvPr id="9" name="Rectangle 6"/>
          <p:cNvSpPr>
            <a:spLocks noGrp="1" noChangeArrowheads="1"/>
          </p:cNvSpPr>
          <p:nvPr>
            <p:ph type="sldNum" sz="quarter" idx="12"/>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fld id="{530820CF-B880-4189-942D-D702A7CBA730}" type="datetimeFigureOut">
              <a:rPr lang="zh-CN" altLang="en-US" smtClean="0"/>
            </a:fld>
            <a:endParaRPr lang="zh-CN" altLang="en-US"/>
          </a:p>
        </p:txBody>
      </p:sp>
      <p:sp>
        <p:nvSpPr>
          <p:cNvPr id="4" name="Rectangle 5"/>
          <p:cNvSpPr>
            <a:spLocks noGrp="1" noChangeArrowheads="1"/>
          </p:cNvSpPr>
          <p:nvPr>
            <p:ph type="ftr" sz="quarter" idx="11"/>
          </p:nvPr>
        </p:nvSpPr>
        <p:spPr/>
        <p:txBody>
          <a:bodyPr/>
          <a:lstStyle>
            <a:lvl1pPr>
              <a:defRPr/>
            </a:lvl1pPr>
          </a:lstStyle>
          <a:p>
            <a:endParaRPr lang="zh-CN" altLang="en-US"/>
          </a:p>
        </p:txBody>
      </p:sp>
      <p:sp>
        <p:nvSpPr>
          <p:cNvPr id="5" name="Rectangle 6"/>
          <p:cNvSpPr>
            <a:spLocks noGrp="1" noChangeArrowheads="1"/>
          </p:cNvSpPr>
          <p:nvPr>
            <p:ph type="sldNum" sz="quarter" idx="12"/>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fld id="{530820CF-B880-4189-942D-D702A7CBA730}" type="datetimeFigureOut">
              <a:rPr lang="zh-CN" altLang="en-US" smtClean="0"/>
            </a:fld>
            <a:endParaRPr lang="zh-CN" altLang="en-US"/>
          </a:p>
        </p:txBody>
      </p:sp>
      <p:sp>
        <p:nvSpPr>
          <p:cNvPr id="3" name="Rectangle 5"/>
          <p:cNvSpPr>
            <a:spLocks noGrp="1" noChangeArrowheads="1"/>
          </p:cNvSpPr>
          <p:nvPr>
            <p:ph type="ftr" sz="quarter" idx="11"/>
          </p:nvPr>
        </p:nvSpPr>
        <p:spPr/>
        <p:txBody>
          <a:bodyPr/>
          <a:lstStyle>
            <a:lvl1pPr>
              <a:defRPr/>
            </a:lvl1pPr>
          </a:lstStyle>
          <a:p>
            <a:endParaRPr lang="zh-CN" altLang="en-US"/>
          </a:p>
        </p:txBody>
      </p:sp>
      <p:sp>
        <p:nvSpPr>
          <p:cNvPr id="4" name="Rectangle 6"/>
          <p:cNvSpPr>
            <a:spLocks noGrp="1" noChangeArrowheads="1"/>
          </p:cNvSpPr>
          <p:nvPr>
            <p:ph type="sldNum" sz="quarter" idx="12"/>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fld id="{530820CF-B880-4189-942D-D702A7CBA730}" type="datetimeFigureOut">
              <a:rPr lang="zh-CN" altLang="en-US" smtClean="0"/>
            </a:fld>
            <a:endParaRPr lang="zh-CN" altLang="en-US"/>
          </a:p>
        </p:txBody>
      </p:sp>
      <p:sp>
        <p:nvSpPr>
          <p:cNvPr id="6" name="Rectangle 5"/>
          <p:cNvSpPr>
            <a:spLocks noGrp="1" noChangeArrowheads="1"/>
          </p:cNvSpPr>
          <p:nvPr>
            <p:ph type="ftr" sz="quarter" idx="11"/>
          </p:nvPr>
        </p:nvSpPr>
        <p:spPr/>
        <p:txBody>
          <a:bodyPr/>
          <a:lstStyle>
            <a:lvl1pPr>
              <a:defRPr/>
            </a:lvl1pPr>
          </a:lstStyle>
          <a:p>
            <a:endParaRPr lang="zh-CN" altLang="en-US"/>
          </a:p>
        </p:txBody>
      </p:sp>
      <p:sp>
        <p:nvSpPr>
          <p:cNvPr id="7" name="Rectangle 6"/>
          <p:cNvSpPr>
            <a:spLocks noGrp="1" noChangeArrowheads="1"/>
          </p:cNvSpPr>
          <p:nvPr>
            <p:ph type="sldNum" sz="quarter" idx="12"/>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fld id="{530820CF-B880-4189-942D-D702A7CBA730}" type="datetimeFigureOut">
              <a:rPr lang="zh-CN" altLang="en-US" smtClean="0"/>
            </a:fld>
            <a:endParaRPr lang="zh-CN" altLang="en-US"/>
          </a:p>
        </p:txBody>
      </p:sp>
      <p:sp>
        <p:nvSpPr>
          <p:cNvPr id="6" name="Rectangle 5"/>
          <p:cNvSpPr>
            <a:spLocks noGrp="1" noChangeArrowheads="1"/>
          </p:cNvSpPr>
          <p:nvPr>
            <p:ph type="ftr" sz="quarter" idx="11"/>
          </p:nvPr>
        </p:nvSpPr>
        <p:spPr/>
        <p:txBody>
          <a:bodyPr/>
          <a:lstStyle>
            <a:lvl1pPr>
              <a:defRPr/>
            </a:lvl1pPr>
          </a:lstStyle>
          <a:p>
            <a:endParaRPr lang="zh-CN" altLang="en-US"/>
          </a:p>
        </p:txBody>
      </p:sp>
      <p:sp>
        <p:nvSpPr>
          <p:cNvPr id="7" name="Rectangle 6"/>
          <p:cNvSpPr>
            <a:spLocks noGrp="1" noChangeArrowheads="1"/>
          </p:cNvSpPr>
          <p:nvPr>
            <p:ph type="sldNum" sz="quarter" idx="12"/>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fld id="{530820CF-B880-4189-942D-D702A7CBA730}" type="datetimeFigureOut">
              <a:rPr lang="zh-CN" altLang="en-US" smtClean="0"/>
            </a:fld>
            <a:endParaRPr lang="zh-CN" altLang="en-US"/>
          </a:p>
        </p:txBody>
      </p:sp>
      <p:sp>
        <p:nvSpPr>
          <p:cNvPr id="5" name="Rectangle 5"/>
          <p:cNvSpPr>
            <a:spLocks noGrp="1" noChangeArrowheads="1"/>
          </p:cNvSpPr>
          <p:nvPr>
            <p:ph type="ftr" sz="quarter" idx="11"/>
          </p:nvPr>
        </p:nvSpPr>
        <p:spPr/>
        <p:txBody>
          <a:bodyPr/>
          <a:lstStyle>
            <a:lvl1pPr>
              <a:defRPr/>
            </a:lvl1pPr>
          </a:lstStyle>
          <a:p>
            <a:endParaRPr lang="zh-CN" altLang="en-US"/>
          </a:p>
        </p:txBody>
      </p:sp>
      <p:sp>
        <p:nvSpPr>
          <p:cNvPr id="6" name="Rectangle 6"/>
          <p:cNvSpPr>
            <a:spLocks noGrp="1" noChangeArrowheads="1"/>
          </p:cNvSpPr>
          <p:nvPr>
            <p:ph type="sldNum" sz="quarter" idx="12"/>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fld id="{530820CF-B880-4189-942D-D702A7CBA730}" type="datetimeFigureOut">
              <a:rPr lang="zh-CN" altLang="en-US" smtClean="0"/>
            </a:fld>
            <a:endParaRPr lang="zh-CN" altLang="en-US"/>
          </a:p>
        </p:txBody>
      </p:sp>
      <p:sp>
        <p:nvSpPr>
          <p:cNvPr id="5" name="Rectangle 5"/>
          <p:cNvSpPr>
            <a:spLocks noGrp="1" noChangeArrowheads="1"/>
          </p:cNvSpPr>
          <p:nvPr>
            <p:ph type="ftr" sz="quarter" idx="11"/>
          </p:nvPr>
        </p:nvSpPr>
        <p:spPr/>
        <p:txBody>
          <a:bodyPr/>
          <a:lstStyle>
            <a:lvl1pPr>
              <a:defRPr/>
            </a:lvl1pPr>
          </a:lstStyle>
          <a:p>
            <a:endParaRPr lang="zh-CN" altLang="en-US"/>
          </a:p>
        </p:txBody>
      </p:sp>
      <p:sp>
        <p:nvSpPr>
          <p:cNvPr id="6" name="Rectangle 6"/>
          <p:cNvSpPr>
            <a:spLocks noGrp="1" noChangeArrowheads="1"/>
          </p:cNvSpPr>
          <p:nvPr>
            <p:ph type="sldNum" sz="quarter" idx="12"/>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audio" Target="../media/audio1.wav"/><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Times New Roman" panose="02020603050405020304" charset="0"/>
              </a:defRPr>
            </a:lvl1pPr>
          </a:lstStyle>
          <a:p>
            <a:fld id="{530820CF-B880-4189-942D-D702A7CBA730}" type="datetimeFigureOut">
              <a:rPr lang="zh-CN" altLang="en-US" smtClean="0"/>
            </a:fld>
            <a:endParaRPr lang="zh-CN" alt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Times New Roman" panose="02020603050405020304" charset="0"/>
              </a:defRPr>
            </a:lvl1pPr>
          </a:lstStyle>
          <a:p>
            <a:endParaRPr lang="zh-CN" alt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smtClean="0">
                <a:solidFill>
                  <a:srgbClr val="FFFF66"/>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6">
                                            <p:txEl>
                                              <p:pRg st="0" end="0"/>
                                            </p:txEl>
                                          </p:spTgt>
                                        </p:tgtEl>
                                        <p:attrNameLst>
                                          <p:attrName>style.visibility</p:attrName>
                                        </p:attrNameLst>
                                      </p:cBhvr>
                                      <p:to>
                                        <p:strVal val="visible"/>
                                      </p:to>
                                    </p:set>
                                    <p:anim calcmode="lin" valueType="num">
                                      <p:cBhvr additive="base">
                                        <p:cTn id="7" dur="500" fill="hold"/>
                                        <p:tgtEl>
                                          <p:spTgt spid="102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2" name="whoosh.wav"/>
                                        </p:tgtEl>
                                      </p:cMediaNode>
                                    </p:audio>
                                  </p:sub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027">
                                            <p:txEl>
                                              <p:pRg st="0" end="0"/>
                                            </p:txEl>
                                          </p:spTgt>
                                        </p:tgtEl>
                                        <p:attrNameLst>
                                          <p:attrName>style.visibility</p:attrName>
                                        </p:attrNameLst>
                                      </p:cBhvr>
                                      <p:to>
                                        <p:strVal val="visible"/>
                                      </p:to>
                                    </p:set>
                                    <p:animEffect transition="in" filter="wipe(up)">
                                      <p:cBhvr>
                                        <p:cTn id="13" dur="500"/>
                                        <p:tgtEl>
                                          <p:spTgt spid="1027">
                                            <p:txEl>
                                              <p:pRg st="0" end="0"/>
                                            </p:txEl>
                                          </p:spTgt>
                                        </p:tgtEl>
                                      </p:cBhvr>
                                    </p:animEffect>
                                  </p:childTnLst>
                                  <p:subTnLst>
                                    <p:animClr>
                                      <p:cBhvr override="childStyle">
                                        <p:cTn dur="1" fill="hold" display="0" masterRel="nextClick" afterEffect="1"/>
                                        <p:tgtEl>
                                          <p:spTgt spid="1027">
                                            <p:txEl>
                                              <p:pRg st="0" end="0"/>
                                            </p:txEl>
                                          </p:spTgt>
                                        </p:tgtEl>
                                        <p:attrNameLst>
                                          <p:attrName>ppt_c</p:attrName>
                                        </p:attrNameLst>
                                      </p:cBhvr>
                                      <p:to>
                                        <a:schemeClr val="hlink"/>
                                      </p:to>
                                    </p:animClr>
                                  </p:sub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027">
                                            <p:txEl>
                                              <p:pRg st="1" end="1"/>
                                            </p:txEl>
                                          </p:spTgt>
                                        </p:tgtEl>
                                        <p:attrNameLst>
                                          <p:attrName>style.visibility</p:attrName>
                                        </p:attrNameLst>
                                      </p:cBhvr>
                                      <p:to>
                                        <p:strVal val="visible"/>
                                      </p:to>
                                    </p:set>
                                    <p:animEffect transition="in" filter="wipe(up)">
                                      <p:cBhvr>
                                        <p:cTn id="18" dur="500"/>
                                        <p:tgtEl>
                                          <p:spTgt spid="1027">
                                            <p:txEl>
                                              <p:pRg st="1" end="1"/>
                                            </p:txEl>
                                          </p:spTgt>
                                        </p:tgtEl>
                                      </p:cBhvr>
                                    </p:animEffect>
                                  </p:childTnLst>
                                  <p:subTnLst>
                                    <p:animClr>
                                      <p:cBhvr override="childStyle">
                                        <p:cTn dur="1" fill="hold" display="0" masterRel="nextClick" afterEffect="1"/>
                                        <p:tgtEl>
                                          <p:spTgt spid="1027">
                                            <p:txEl>
                                              <p:pRg st="1" end="1"/>
                                            </p:txEl>
                                          </p:spTgt>
                                        </p:tgtEl>
                                        <p:attrNameLst>
                                          <p:attrName>ppt_c</p:attrName>
                                        </p:attrNameLst>
                                      </p:cBhvr>
                                      <p:to>
                                        <a:schemeClr val="hlink"/>
                                      </p:to>
                                    </p:animClr>
                                  </p:sub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027">
                                            <p:txEl>
                                              <p:pRg st="2" end="2"/>
                                            </p:txEl>
                                          </p:spTgt>
                                        </p:tgtEl>
                                        <p:attrNameLst>
                                          <p:attrName>style.visibility</p:attrName>
                                        </p:attrNameLst>
                                      </p:cBhvr>
                                      <p:to>
                                        <p:strVal val="visible"/>
                                      </p:to>
                                    </p:set>
                                    <p:animEffect transition="in" filter="wipe(up)">
                                      <p:cBhvr>
                                        <p:cTn id="23" dur="500"/>
                                        <p:tgtEl>
                                          <p:spTgt spid="1027">
                                            <p:txEl>
                                              <p:pRg st="2" end="2"/>
                                            </p:txEl>
                                          </p:spTgt>
                                        </p:tgtEl>
                                      </p:cBhvr>
                                    </p:animEffect>
                                  </p:childTnLst>
                                  <p:subTnLst>
                                    <p:animClr>
                                      <p:cBhvr override="childStyle">
                                        <p:cTn dur="1" fill="hold" display="0" masterRel="nextClick" afterEffect="1"/>
                                        <p:tgtEl>
                                          <p:spTgt spid="1027">
                                            <p:txEl>
                                              <p:pRg st="2" end="2"/>
                                            </p:txEl>
                                          </p:spTgt>
                                        </p:tgtEl>
                                        <p:attrNameLst>
                                          <p:attrName>ppt_c</p:attrName>
                                        </p:attrNameLst>
                                      </p:cBhvr>
                                      <p:to>
                                        <a:schemeClr val="hlink"/>
                                      </p:to>
                                    </p:animClr>
                                  </p:subTnLst>
                                </p:cTn>
                              </p:par>
                              <p:par>
                                <p:cTn id="24" presetID="22" presetClass="entr" presetSubtype="1" fill="hold" grpId="0" nodeType="withEffect">
                                  <p:stCondLst>
                                    <p:cond delay="0"/>
                                  </p:stCondLst>
                                  <p:childTnLst>
                                    <p:set>
                                      <p:cBhvr>
                                        <p:cTn id="25" dur="1" fill="hold">
                                          <p:stCondLst>
                                            <p:cond delay="0"/>
                                          </p:stCondLst>
                                        </p:cTn>
                                        <p:tgtEl>
                                          <p:spTgt spid="1027">
                                            <p:txEl>
                                              <p:pRg st="3" end="3"/>
                                            </p:txEl>
                                          </p:spTgt>
                                        </p:tgtEl>
                                        <p:attrNameLst>
                                          <p:attrName>style.visibility</p:attrName>
                                        </p:attrNameLst>
                                      </p:cBhvr>
                                      <p:to>
                                        <p:strVal val="visible"/>
                                      </p:to>
                                    </p:set>
                                    <p:animEffect transition="in" filter="wipe(up)">
                                      <p:cBhvr>
                                        <p:cTn id="26" dur="500"/>
                                        <p:tgtEl>
                                          <p:spTgt spid="1027">
                                            <p:txEl>
                                              <p:pRg st="3" end="3"/>
                                            </p:txEl>
                                          </p:spTgt>
                                        </p:tgtEl>
                                      </p:cBhvr>
                                    </p:animEffect>
                                  </p:childTnLst>
                                  <p:subTnLst>
                                    <p:animClr>
                                      <p:cBhvr override="childStyle">
                                        <p:cTn dur="1" fill="hold" display="0" masterRel="nextClick" afterEffect="1"/>
                                        <p:tgtEl>
                                          <p:spTgt spid="1027">
                                            <p:txEl>
                                              <p:pRg st="3" end="3"/>
                                            </p:txEl>
                                          </p:spTgt>
                                        </p:tgtEl>
                                        <p:attrNameLst>
                                          <p:attrName>ppt_c</p:attrName>
                                        </p:attrNameLst>
                                      </p:cBhvr>
                                      <p:to>
                                        <a:schemeClr val="hlink"/>
                                      </p:to>
                                    </p:animClr>
                                  </p:subTnLst>
                                </p:cTn>
                              </p:par>
                              <p:par>
                                <p:cTn id="27" presetID="22" presetClass="entr" presetSubtype="1" fill="hold" grpId="0" nodeType="withEffect">
                                  <p:stCondLst>
                                    <p:cond delay="0"/>
                                  </p:stCondLst>
                                  <p:childTnLst>
                                    <p:set>
                                      <p:cBhvr>
                                        <p:cTn id="28" dur="1" fill="hold">
                                          <p:stCondLst>
                                            <p:cond delay="0"/>
                                          </p:stCondLst>
                                        </p:cTn>
                                        <p:tgtEl>
                                          <p:spTgt spid="1027">
                                            <p:txEl>
                                              <p:pRg st="4" end="4"/>
                                            </p:txEl>
                                          </p:spTgt>
                                        </p:tgtEl>
                                        <p:attrNameLst>
                                          <p:attrName>style.visibility</p:attrName>
                                        </p:attrNameLst>
                                      </p:cBhvr>
                                      <p:to>
                                        <p:strVal val="visible"/>
                                      </p:to>
                                    </p:set>
                                    <p:animEffect transition="in" filter="wipe(up)">
                                      <p:cBhvr>
                                        <p:cTn id="29" dur="500"/>
                                        <p:tgtEl>
                                          <p:spTgt spid="1027">
                                            <p:txEl>
                                              <p:pRg st="4" end="4"/>
                                            </p:txEl>
                                          </p:spTgt>
                                        </p:tgtEl>
                                      </p:cBhvr>
                                    </p:animEffect>
                                  </p:childTnLst>
                                  <p:subTnLst>
                                    <p:animClr>
                                      <p:cBhvr override="childStyle">
                                        <p:cTn dur="1" fill="hold" display="0" masterRel="nextClick" afterEffect="1"/>
                                        <p:tgtEl>
                                          <p:spTgt spid="1027">
                                            <p:txEl>
                                              <p:pRg st="4" end="4"/>
                                            </p:txEl>
                                          </p:spTgt>
                                        </p:tgtEl>
                                        <p:attrNameLst>
                                          <p:attrName>ppt_c</p:attrName>
                                        </p:attrNameLst>
                                      </p:cBhvr>
                                      <p:to>
                                        <a:schemeClr va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autoUpdateAnimBg="0" build="p"/>
      <p:bldP spid="1027" grpId="0" bldLvl="3" autoUpdateAnimBg="0" build="p">
        <p:tmplLst>
          <p:tmpl lvl="1">
            <p:tnLst>
              <p:par>
                <p:cTn presetID="22" presetClass="entr" presetSubtype="1"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up)">
                      <p:cBhvr>
                        <p:cTn dur="500"/>
                        <p:tgtEl>
                          <p:spTgt spid="1027"/>
                        </p:tgtEl>
                      </p:cBhvr>
                    </p:animEffect>
                  </p:childTnLst>
                  <p:subTnLst>
                    <p:animClr>
                      <p:cBhvr override="childStyle">
                        <p:cTn dur="1" fill="hold" display="0" masterRel="nextClick" afterEffect="1"/>
                        <p:tgtEl>
                          <p:spTgt spid="1027"/>
                        </p:tgtEl>
                        <p:attrNameLst>
                          <p:attrName>ppt_c</p:attrName>
                        </p:attrNameLst>
                      </p:cBhvr>
                      <p:to>
                        <a:schemeClr val="hlink"/>
                      </p:to>
                    </p:animClr>
                  </p:subTnLst>
                </p:cTn>
              </p:par>
            </p:tnLst>
          </p:tmpl>
          <p:tmpl lvl="2">
            <p:tnLst>
              <p:par>
                <p:cTn presetID="22" presetClass="entr" presetSubtype="1"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up)">
                      <p:cBhvr>
                        <p:cTn dur="500"/>
                        <p:tgtEl>
                          <p:spTgt spid="1027"/>
                        </p:tgtEl>
                      </p:cBhvr>
                    </p:animEffect>
                  </p:childTnLst>
                  <p:subTnLst>
                    <p:animClr>
                      <p:cBhvr override="childStyle">
                        <p:cTn dur="1" fill="hold" display="0" masterRel="nextClick" afterEffect="1"/>
                        <p:tgtEl>
                          <p:spTgt spid="1027"/>
                        </p:tgtEl>
                        <p:attrNameLst>
                          <p:attrName>ppt_c</p:attrName>
                        </p:attrNameLst>
                      </p:cBhvr>
                      <p:to>
                        <a:schemeClr val="hlink"/>
                      </p:to>
                    </p:animClr>
                  </p:subTnLst>
                </p:cTn>
              </p:par>
            </p:tnLst>
          </p:tmpl>
          <p:tmpl lvl="3">
            <p:tnLst>
              <p:par>
                <p:cTn presetID="22" presetClass="entr" presetSubtype="1"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up)">
                      <p:cBhvr>
                        <p:cTn dur="500"/>
                        <p:tgtEl>
                          <p:spTgt spid="1027"/>
                        </p:tgtEl>
                      </p:cBhvr>
                    </p:animEffect>
                  </p:childTnLst>
                  <p:subTnLst>
                    <p:animClr>
                      <p:cBhvr override="childStyle">
                        <p:cTn dur="1" fill="hold" display="0" masterRel="nextClick" afterEffect="1"/>
                        <p:tgtEl>
                          <p:spTgt spid="1027"/>
                        </p:tgtEl>
                        <p:attrNameLst>
                          <p:attrName>ppt_c</p:attrName>
                        </p:attrNameLst>
                      </p:cBhvr>
                      <p:to>
                        <a:schemeClr val="hlink"/>
                      </p:to>
                    </p:animClr>
                  </p:subTnLst>
                </p:cTn>
              </p:par>
            </p:tnLst>
          </p:tmpl>
          <p:tmpl lvl="4">
            <p:tnLst>
              <p:par>
                <p:cTn presetID="22" presetClass="entr" presetSubtype="1"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up)">
                      <p:cBhvr>
                        <p:cTn dur="500"/>
                        <p:tgtEl>
                          <p:spTgt spid="1027"/>
                        </p:tgtEl>
                      </p:cBhvr>
                    </p:animEffect>
                  </p:childTnLst>
                  <p:subTnLst>
                    <p:animClr>
                      <p:cBhvr override="childStyle">
                        <p:cTn dur="1" fill="hold" display="0" masterRel="nextClick" afterEffect="1"/>
                        <p:tgtEl>
                          <p:spTgt spid="1027"/>
                        </p:tgtEl>
                        <p:attrNameLst>
                          <p:attrName>ppt_c</p:attrName>
                        </p:attrNameLst>
                      </p:cBhvr>
                      <p:to>
                        <a:schemeClr val="hlink"/>
                      </p:to>
                    </p:animClr>
                  </p:subTnLst>
                </p:cTn>
              </p:par>
            </p:tnLst>
          </p:tmpl>
          <p:tmpl lvl="5">
            <p:tnLst>
              <p:par>
                <p:cTn presetID="22" presetClass="entr" presetSubtype="1"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up)">
                      <p:cBhvr>
                        <p:cTn dur="500"/>
                        <p:tgtEl>
                          <p:spTgt spid="1027"/>
                        </p:tgtEl>
                      </p:cBhvr>
                    </p:animEffect>
                  </p:childTnLst>
                  <p:subTnLst>
                    <p:animClr>
                      <p:cBhvr override="childStyle">
                        <p:cTn dur="1" fill="hold" display="0" masterRel="nextClick" afterEffect="1"/>
                        <p:tgtEl>
                          <p:spTgt spid="1027"/>
                        </p:tgtEl>
                        <p:attrNameLst>
                          <p:attrName>ppt_c</p:attrName>
                        </p:attrNameLst>
                      </p:cBhvr>
                      <p:to>
                        <a:schemeClr val="hlink"/>
                      </p:to>
                    </p:animClr>
                  </p:subTnLst>
                </p:cTn>
              </p:par>
            </p:tnLst>
          </p:tmpl>
        </p:tmplLst>
      </p:bldP>
    </p:bldLst>
  </p:timing>
  <p:txStyles>
    <p:titleStyle>
      <a:lvl1pPr algn="ctr" rtl="0" eaLnBrk="1" fontAlgn="base" hangingPunct="1">
        <a:spcBef>
          <a:spcPct val="0"/>
        </a:spcBef>
        <a:spcAft>
          <a:spcPct val="0"/>
        </a:spcAft>
        <a:defRPr kumimoji="1" sz="4400" b="1">
          <a:solidFill>
            <a:schemeClr val="bg1"/>
          </a:solidFill>
          <a:latin typeface="+mj-lt"/>
          <a:ea typeface="+mj-ea"/>
          <a:cs typeface="+mj-cs"/>
        </a:defRPr>
      </a:lvl1pPr>
      <a:lvl2pPr algn="ctr" rtl="0" eaLnBrk="1" fontAlgn="base" hangingPunct="1">
        <a:spcBef>
          <a:spcPct val="0"/>
        </a:spcBef>
        <a:spcAft>
          <a:spcPct val="0"/>
        </a:spcAft>
        <a:defRPr kumimoji="1" sz="4400" b="1">
          <a:solidFill>
            <a:schemeClr val="bg1"/>
          </a:solidFill>
          <a:latin typeface="Times New Roman" panose="02020603050405020304" charset="0"/>
          <a:ea typeface="楷体_GB2312" pitchFamily="49" charset="-122"/>
        </a:defRPr>
      </a:lvl2pPr>
      <a:lvl3pPr algn="ctr" rtl="0" eaLnBrk="1" fontAlgn="base" hangingPunct="1">
        <a:spcBef>
          <a:spcPct val="0"/>
        </a:spcBef>
        <a:spcAft>
          <a:spcPct val="0"/>
        </a:spcAft>
        <a:defRPr kumimoji="1" sz="4400" b="1">
          <a:solidFill>
            <a:schemeClr val="bg1"/>
          </a:solidFill>
          <a:latin typeface="Times New Roman" panose="02020603050405020304" charset="0"/>
          <a:ea typeface="楷体_GB2312" pitchFamily="49" charset="-122"/>
        </a:defRPr>
      </a:lvl3pPr>
      <a:lvl4pPr algn="ctr" rtl="0" eaLnBrk="1" fontAlgn="base" hangingPunct="1">
        <a:spcBef>
          <a:spcPct val="0"/>
        </a:spcBef>
        <a:spcAft>
          <a:spcPct val="0"/>
        </a:spcAft>
        <a:defRPr kumimoji="1" sz="4400" b="1">
          <a:solidFill>
            <a:schemeClr val="bg1"/>
          </a:solidFill>
          <a:latin typeface="Times New Roman" panose="02020603050405020304" charset="0"/>
          <a:ea typeface="楷体_GB2312" pitchFamily="49" charset="-122"/>
        </a:defRPr>
      </a:lvl4pPr>
      <a:lvl5pPr algn="ctr" rtl="0" eaLnBrk="1" fontAlgn="base" hangingPunct="1">
        <a:spcBef>
          <a:spcPct val="0"/>
        </a:spcBef>
        <a:spcAft>
          <a:spcPct val="0"/>
        </a:spcAft>
        <a:defRPr kumimoji="1" sz="4400" b="1">
          <a:solidFill>
            <a:schemeClr val="bg1"/>
          </a:solidFill>
          <a:latin typeface="Times New Roman" panose="02020603050405020304" charset="0"/>
          <a:ea typeface="楷体_GB2312" pitchFamily="49" charset="-122"/>
        </a:defRPr>
      </a:lvl5pPr>
      <a:lvl6pPr marL="457200" algn="ctr" rtl="0" eaLnBrk="1" fontAlgn="base" hangingPunct="1">
        <a:spcBef>
          <a:spcPct val="0"/>
        </a:spcBef>
        <a:spcAft>
          <a:spcPct val="0"/>
        </a:spcAft>
        <a:defRPr kumimoji="1" sz="4400" b="1">
          <a:solidFill>
            <a:schemeClr val="bg1"/>
          </a:solidFill>
          <a:latin typeface="Times New Roman" panose="02020603050405020304" charset="0"/>
          <a:ea typeface="楷体_GB2312" pitchFamily="49" charset="-122"/>
        </a:defRPr>
      </a:lvl6pPr>
      <a:lvl7pPr marL="914400" algn="ctr" rtl="0" eaLnBrk="1" fontAlgn="base" hangingPunct="1">
        <a:spcBef>
          <a:spcPct val="0"/>
        </a:spcBef>
        <a:spcAft>
          <a:spcPct val="0"/>
        </a:spcAft>
        <a:defRPr kumimoji="1" sz="4400" b="1">
          <a:solidFill>
            <a:schemeClr val="bg1"/>
          </a:solidFill>
          <a:latin typeface="Times New Roman" panose="02020603050405020304" charset="0"/>
          <a:ea typeface="楷体_GB2312" pitchFamily="49" charset="-122"/>
        </a:defRPr>
      </a:lvl7pPr>
      <a:lvl8pPr marL="1371600" algn="ctr" rtl="0" eaLnBrk="1" fontAlgn="base" hangingPunct="1">
        <a:spcBef>
          <a:spcPct val="0"/>
        </a:spcBef>
        <a:spcAft>
          <a:spcPct val="0"/>
        </a:spcAft>
        <a:defRPr kumimoji="1" sz="4400" b="1">
          <a:solidFill>
            <a:schemeClr val="bg1"/>
          </a:solidFill>
          <a:latin typeface="Times New Roman" panose="02020603050405020304" charset="0"/>
          <a:ea typeface="楷体_GB2312" pitchFamily="49" charset="-122"/>
        </a:defRPr>
      </a:lvl8pPr>
      <a:lvl9pPr marL="1828800" algn="ctr" rtl="0" eaLnBrk="1" fontAlgn="base" hangingPunct="1">
        <a:spcBef>
          <a:spcPct val="0"/>
        </a:spcBef>
        <a:spcAft>
          <a:spcPct val="0"/>
        </a:spcAft>
        <a:defRPr kumimoji="1" sz="4400" b="1">
          <a:solidFill>
            <a:schemeClr val="bg1"/>
          </a:solidFill>
          <a:latin typeface="Times New Roman" panose="02020603050405020304" charset="0"/>
          <a:ea typeface="楷体_GB2312" pitchFamily="49" charset="-122"/>
        </a:defRPr>
      </a:lvl9pPr>
    </p:titleStyle>
    <p:bodyStyle>
      <a:lvl1pPr marL="342900" indent="-342900" algn="l" rtl="0" eaLnBrk="1" fontAlgn="base" hangingPunct="1">
        <a:spcBef>
          <a:spcPct val="20000"/>
        </a:spcBef>
        <a:spcAft>
          <a:spcPct val="0"/>
        </a:spcAft>
        <a:buChar char="•"/>
        <a:defRPr kumimoji="1" sz="3200">
          <a:solidFill>
            <a:srgbClr val="FFFF00"/>
          </a:solidFill>
          <a:latin typeface="+mn-lt"/>
          <a:ea typeface="+mn-ea"/>
          <a:cs typeface="+mn-cs"/>
        </a:defRPr>
      </a:lvl1pPr>
      <a:lvl2pPr marL="742950" indent="-285750" algn="l" rtl="0" eaLnBrk="1" fontAlgn="base" hangingPunct="1">
        <a:spcBef>
          <a:spcPct val="20000"/>
        </a:spcBef>
        <a:spcAft>
          <a:spcPct val="0"/>
        </a:spcAft>
        <a:buChar char="–"/>
        <a:defRPr kumimoji="1" sz="2800">
          <a:solidFill>
            <a:srgbClr val="FFFF66"/>
          </a:solidFill>
          <a:latin typeface="+mn-lt"/>
          <a:ea typeface="+mn-ea"/>
        </a:defRPr>
      </a:lvl2pPr>
      <a:lvl3pPr marL="1143000" indent="-228600" algn="l" rtl="0" eaLnBrk="1" fontAlgn="base" hangingPunct="1">
        <a:spcBef>
          <a:spcPct val="20000"/>
        </a:spcBef>
        <a:spcAft>
          <a:spcPct val="0"/>
        </a:spcAft>
        <a:buChar char="•"/>
        <a:defRPr kumimoji="1" sz="2400">
          <a:solidFill>
            <a:srgbClr val="00FF00"/>
          </a:solidFill>
          <a:latin typeface="+mn-lt"/>
          <a:ea typeface="+mn-ea"/>
        </a:defRPr>
      </a:lvl3pPr>
      <a:lvl4pPr marL="1600200" indent="-228600" algn="l" rtl="0" eaLnBrk="1" fontAlgn="base" hangingPunct="1">
        <a:spcBef>
          <a:spcPct val="20000"/>
        </a:spcBef>
        <a:spcAft>
          <a:spcPct val="0"/>
        </a:spcAft>
        <a:buChar char="–"/>
        <a:defRPr kumimoji="1" sz="2000">
          <a:solidFill>
            <a:srgbClr val="FFFF00"/>
          </a:solidFill>
          <a:latin typeface="+mn-lt"/>
          <a:ea typeface="+mn-ea"/>
        </a:defRPr>
      </a:lvl4pPr>
      <a:lvl5pPr marL="2057400" indent="-228600" algn="l" rtl="0" eaLnBrk="1" fontAlgn="base" hangingPunct="1">
        <a:spcBef>
          <a:spcPct val="20000"/>
        </a:spcBef>
        <a:spcAft>
          <a:spcPct val="0"/>
        </a:spcAft>
        <a:buChar char="»"/>
        <a:defRPr kumimoji="1" sz="2000">
          <a:solidFill>
            <a:srgbClr val="66CCFF"/>
          </a:solidFill>
          <a:latin typeface="+mn-lt"/>
          <a:ea typeface="+mn-ea"/>
        </a:defRPr>
      </a:lvl5pPr>
      <a:lvl6pPr marL="2514600" indent="-228600" algn="l" rtl="0" eaLnBrk="1" fontAlgn="base" hangingPunct="1">
        <a:spcBef>
          <a:spcPct val="20000"/>
        </a:spcBef>
        <a:spcAft>
          <a:spcPct val="0"/>
        </a:spcAft>
        <a:buChar char="»"/>
        <a:defRPr kumimoji="1" sz="2000">
          <a:solidFill>
            <a:srgbClr val="66CCFF"/>
          </a:solidFill>
          <a:latin typeface="+mn-lt"/>
          <a:ea typeface="+mn-ea"/>
        </a:defRPr>
      </a:lvl6pPr>
      <a:lvl7pPr marL="2971800" indent="-228600" algn="l" rtl="0" eaLnBrk="1" fontAlgn="base" hangingPunct="1">
        <a:spcBef>
          <a:spcPct val="20000"/>
        </a:spcBef>
        <a:spcAft>
          <a:spcPct val="0"/>
        </a:spcAft>
        <a:buChar char="»"/>
        <a:defRPr kumimoji="1" sz="2000">
          <a:solidFill>
            <a:srgbClr val="66CCFF"/>
          </a:solidFill>
          <a:latin typeface="+mn-lt"/>
          <a:ea typeface="+mn-ea"/>
        </a:defRPr>
      </a:lvl7pPr>
      <a:lvl8pPr marL="3429000" indent="-228600" algn="l" rtl="0" eaLnBrk="1" fontAlgn="base" hangingPunct="1">
        <a:spcBef>
          <a:spcPct val="20000"/>
        </a:spcBef>
        <a:spcAft>
          <a:spcPct val="0"/>
        </a:spcAft>
        <a:buChar char="»"/>
        <a:defRPr kumimoji="1" sz="2000">
          <a:solidFill>
            <a:srgbClr val="66CCFF"/>
          </a:solidFill>
          <a:latin typeface="+mn-lt"/>
          <a:ea typeface="+mn-ea"/>
        </a:defRPr>
      </a:lvl8pPr>
      <a:lvl9pPr marL="3886200" indent="-228600" algn="l" rtl="0" eaLnBrk="1" fontAlgn="base" hangingPunct="1">
        <a:spcBef>
          <a:spcPct val="20000"/>
        </a:spcBef>
        <a:spcAft>
          <a:spcPct val="0"/>
        </a:spcAft>
        <a:buChar char="»"/>
        <a:defRPr kumimoji="1" sz="2000">
          <a:solidFill>
            <a:srgbClr val="66CCFF"/>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a:lstStyle/>
          <a:p>
            <a:r>
              <a:rPr lang="zh-CN" altLang="en-US" dirty="0"/>
              <a:t>Limitations of Computing</a:t>
            </a:r>
            <a:endParaRPr lang="zh-CN" altLang="en-US" dirty="0"/>
          </a:p>
        </p:txBody>
      </p:sp>
      <p:sp>
        <p:nvSpPr>
          <p:cNvPr id="4099" name="Rectangle 3"/>
          <p:cNvSpPr>
            <a:spLocks noGrp="1" noChangeArrowheads="1"/>
          </p:cNvSpPr>
          <p:nvPr>
            <p:ph type="subTitle" idx="1"/>
          </p:nvPr>
        </p:nvSpPr>
        <p:spPr/>
        <p:txBody>
          <a:bodyPr/>
          <a:lstStyle/>
          <a:p>
            <a:endParaRPr lang="zh-CN" altLang="zh-CN"/>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zh-CN" dirty="0" smtClean="0"/>
              <a:t>Outline</a:t>
            </a:r>
            <a:endParaRPr lang="zh-CN" altLang="en-US" dirty="0"/>
          </a:p>
        </p:txBody>
      </p:sp>
      <p:sp>
        <p:nvSpPr>
          <p:cNvPr id="6147" name="Rectangle 3"/>
          <p:cNvSpPr>
            <a:spLocks noGrp="1" noChangeArrowheads="1"/>
          </p:cNvSpPr>
          <p:nvPr>
            <p:ph type="body" idx="1"/>
          </p:nvPr>
        </p:nvSpPr>
        <p:spPr/>
        <p:txBody>
          <a:bodyPr/>
          <a:lstStyle/>
          <a:p>
            <a:r>
              <a:rPr lang="en-US" altLang="zh-CN" dirty="0" smtClean="0"/>
              <a:t>H</a:t>
            </a:r>
            <a:r>
              <a:rPr lang="zh-CN" altLang="en-US" dirty="0" smtClean="0"/>
              <a:t>ardware</a:t>
            </a:r>
            <a:endParaRPr lang="en-US" altLang="zh-CN" dirty="0" smtClean="0"/>
          </a:p>
          <a:p>
            <a:r>
              <a:rPr lang="en-US" altLang="zh-CN" dirty="0" smtClean="0"/>
              <a:t>S</a:t>
            </a:r>
            <a:r>
              <a:rPr lang="zh-CN" altLang="en-US" dirty="0" smtClean="0"/>
              <a:t>oftware</a:t>
            </a:r>
            <a:endParaRPr lang="en-US" altLang="zh-CN" dirty="0" smtClean="0"/>
          </a:p>
          <a:p>
            <a:r>
              <a:rPr lang="zh-CN" altLang="en-US" dirty="0" smtClean="0"/>
              <a:t>problems</a:t>
            </a:r>
            <a:endParaRPr lang="zh-CN" altLang="en-US" dirty="0"/>
          </a:p>
          <a:p>
            <a:pPr>
              <a:buFont typeface="Wingdings 2" panose="05020102010507070707" pitchFamily="18" charset="2"/>
              <a:buNone/>
            </a:pPr>
            <a:r>
              <a:rPr lang="zh-CN" altLang="en-US" dirty="0"/>
              <a:t>     </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zh-CN" altLang="en-US" dirty="0"/>
              <a:t>Limitation of Computing</a:t>
            </a:r>
            <a:endParaRPr lang="zh-CN" altLang="en-US" dirty="0"/>
          </a:p>
        </p:txBody>
      </p:sp>
      <p:sp>
        <p:nvSpPr>
          <p:cNvPr id="5123" name="Rectangle 3"/>
          <p:cNvSpPr>
            <a:spLocks noGrp="1" noChangeArrowheads="1"/>
          </p:cNvSpPr>
          <p:nvPr>
            <p:ph type="body" idx="1"/>
          </p:nvPr>
        </p:nvSpPr>
        <p:spPr/>
        <p:txBody>
          <a:bodyPr/>
          <a:lstStyle/>
          <a:p>
            <a:pPr>
              <a:lnSpc>
                <a:spcPct val="100000"/>
              </a:lnSpc>
            </a:pPr>
            <a:r>
              <a:rPr lang="zh-CN" altLang="en-US" sz="2800" dirty="0"/>
              <a:t>Goals</a:t>
            </a:r>
            <a:endParaRPr lang="zh-CN" altLang="en-US" sz="2800" dirty="0"/>
          </a:p>
          <a:p>
            <a:pPr>
              <a:lnSpc>
                <a:spcPct val="100000"/>
              </a:lnSpc>
              <a:buFont typeface="Wingdings 2" panose="05020102010507070707" pitchFamily="18" charset="2"/>
              <a:buNone/>
            </a:pPr>
            <a:r>
              <a:rPr lang="zh-CN" altLang="en-US" sz="2000" dirty="0"/>
              <a:t>    1.describe the limits that the hardware places on the solution  to computing problems </a:t>
            </a:r>
            <a:endParaRPr lang="zh-CN" altLang="en-US" sz="2000" dirty="0"/>
          </a:p>
          <a:p>
            <a:pPr>
              <a:lnSpc>
                <a:spcPct val="100000"/>
              </a:lnSpc>
              <a:buFont typeface="Wingdings 2" panose="05020102010507070707" pitchFamily="18" charset="2"/>
              <a:buNone/>
            </a:pPr>
            <a:r>
              <a:rPr lang="zh-CN" altLang="en-US" sz="2000" dirty="0"/>
              <a:t>    </a:t>
            </a:r>
            <a:r>
              <a:rPr lang="zh-CN" altLang="en-US" sz="2000" dirty="0">
                <a:sym typeface="Arial" panose="020B0604020202020204" pitchFamily="34" charset="0"/>
              </a:rPr>
              <a:t>2.describe the limits inherent in computable problems themselves</a:t>
            </a:r>
            <a:endParaRPr lang="zh-CN" altLang="en-US" sz="2000" dirty="0">
              <a:sym typeface="Arial" panose="020B0604020202020204" pitchFamily="34" charset="0"/>
            </a:endParaRPr>
          </a:p>
          <a:p>
            <a:pPr>
              <a:lnSpc>
                <a:spcPct val="100000"/>
              </a:lnSpc>
              <a:buFont typeface="Wingdings 2" panose="05020102010507070707" pitchFamily="18" charset="2"/>
              <a:buNone/>
            </a:pPr>
            <a:r>
              <a:rPr lang="zh-CN" altLang="en-US" sz="2000" dirty="0">
                <a:sym typeface="Arial" panose="020B0604020202020204" pitchFamily="34" charset="0"/>
              </a:rPr>
              <a:t>    3.describe the limits that the finitness of the computer influences thesolutions to numeric problems</a:t>
            </a:r>
            <a:endParaRPr lang="zh-CN" altLang="en-US" sz="2000" dirty="0">
              <a:sym typeface="Arial" panose="020B0604020202020204" pitchFamily="34" charset="0"/>
            </a:endParaRPr>
          </a:p>
          <a:p>
            <a:pPr>
              <a:lnSpc>
                <a:spcPct val="100000"/>
              </a:lnSpc>
              <a:buFont typeface="Wingdings 2" panose="05020102010507070707" pitchFamily="18" charset="2"/>
              <a:buNone/>
            </a:pPr>
            <a:r>
              <a:rPr lang="zh-CN" altLang="en-US" sz="2000" dirty="0">
                <a:sym typeface="Arial" panose="020B0604020202020204" pitchFamily="34" charset="0"/>
              </a:rPr>
              <a:t>    4.describe the limits that the software places on the solutions to   computing problems</a:t>
            </a:r>
            <a:endParaRPr lang="zh-CN" altLang="en-US" sz="2000" dirty="0">
              <a:sym typeface="Arial" panose="020B0604020202020204" pitchFamily="34" charset="0"/>
            </a:endParaRPr>
          </a:p>
          <a:p>
            <a:pPr>
              <a:lnSpc>
                <a:spcPct val="100000"/>
              </a:lnSpc>
              <a:buFont typeface="Wingdings 2" panose="05020102010507070707" pitchFamily="18" charset="2"/>
              <a:buNone/>
            </a:pPr>
            <a:r>
              <a:rPr lang="zh-CN" altLang="en-US" sz="2000" dirty="0">
                <a:sym typeface="Arial" panose="020B0604020202020204" pitchFamily="34" charset="0"/>
              </a:rPr>
              <a:t>    5.discuss ways to build better software</a:t>
            </a:r>
            <a:endParaRPr lang="zh-CN" altLang="en-US" sz="2000" dirty="0">
              <a:sym typeface="Arial" panose="020B0604020202020204" pitchFamily="34" charset="0"/>
            </a:endParaRPr>
          </a:p>
          <a:p>
            <a:pPr>
              <a:lnSpc>
                <a:spcPct val="100000"/>
              </a:lnSpc>
              <a:buFont typeface="Wingdings 2" panose="05020102010507070707" pitchFamily="18" charset="2"/>
              <a:buNone/>
            </a:pPr>
            <a:r>
              <a:rPr lang="zh-CN" altLang="en-US" sz="2000" dirty="0">
                <a:sym typeface="Arial" panose="020B0604020202020204" pitchFamily="34" charset="0"/>
              </a:rPr>
              <a:t>    6.discuss the continuum of problem complexity from problems in Class P to problems that are unsolvable          </a:t>
            </a:r>
            <a:endParaRPr lang="zh-CN" altLang="en-US" sz="2000" dirty="0">
              <a:sym typeface="Arial" panose="020B060402020202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zh-CN" dirty="0" smtClean="0"/>
              <a:t>Part1 </a:t>
            </a:r>
            <a:r>
              <a:rPr lang="zh-CN" altLang="en-US" dirty="0" smtClean="0"/>
              <a:t>Hardware</a:t>
            </a:r>
            <a:endParaRPr lang="zh-CN" altLang="en-US" dirty="0"/>
          </a:p>
        </p:txBody>
      </p:sp>
      <p:sp>
        <p:nvSpPr>
          <p:cNvPr id="7171" name="Rectangle 3"/>
          <p:cNvSpPr>
            <a:spLocks noGrp="1" noChangeArrowheads="1"/>
          </p:cNvSpPr>
          <p:nvPr>
            <p:ph type="body" idx="1"/>
          </p:nvPr>
        </p:nvSpPr>
        <p:spPr/>
        <p:txBody>
          <a:bodyPr/>
          <a:lstStyle/>
          <a:p>
            <a:r>
              <a:rPr lang="zh-CN" altLang="en-US" dirty="0"/>
              <a:t>Limits On </a:t>
            </a:r>
            <a:r>
              <a:rPr lang="zh-CN" altLang="en-US" dirty="0" smtClean="0"/>
              <a:t>Arithmetic</a:t>
            </a:r>
            <a:endParaRPr lang="zh-CN" altLang="en-US" dirty="0"/>
          </a:p>
          <a:p>
            <a:r>
              <a:rPr lang="zh-CN" altLang="en-US" dirty="0"/>
              <a:t>Limits Of </a:t>
            </a:r>
            <a:r>
              <a:rPr lang="zh-CN" altLang="en-US" dirty="0" smtClean="0"/>
              <a:t>Components</a:t>
            </a:r>
            <a:endParaRPr lang="zh-CN" altLang="en-US" dirty="0"/>
          </a:p>
          <a:p>
            <a:r>
              <a:rPr lang="zh-CN" altLang="en-US" dirty="0"/>
              <a:t>Limits Of </a:t>
            </a:r>
            <a:r>
              <a:rPr lang="zh-CN" altLang="en-US" dirty="0" smtClean="0"/>
              <a:t>Communications</a:t>
            </a:r>
            <a:endParaRPr lang="zh-CN"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zh-CN" altLang="en-US" dirty="0" smtClean="0"/>
              <a:t>Limits On Arithmetic</a:t>
            </a:r>
            <a:endParaRPr lang="zh-CN" altLang="en-US" dirty="0"/>
          </a:p>
        </p:txBody>
      </p:sp>
      <p:sp>
        <p:nvSpPr>
          <p:cNvPr id="8195" name="Rectangle 3"/>
          <p:cNvSpPr>
            <a:spLocks noGrp="1" noChangeArrowheads="1"/>
          </p:cNvSpPr>
          <p:nvPr>
            <p:ph type="body" idx="1"/>
          </p:nvPr>
        </p:nvSpPr>
        <p:spPr/>
        <p:txBody>
          <a:bodyPr/>
          <a:lstStyle/>
          <a:p>
            <a:r>
              <a:rPr lang="zh-CN" altLang="en-US" dirty="0" smtClean="0"/>
              <a:t>The </a:t>
            </a:r>
            <a:r>
              <a:rPr lang="zh-CN" altLang="en-US" dirty="0"/>
              <a:t>hardware of a particular machine determines the limits of the numbers,both real and integer,that can be represented.Some software solutions,however ,allow programs to overcome these limitations.</a:t>
            </a:r>
            <a:endParaRPr lang="zh-CN" alt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endParaRPr lang="zh-CN" altLang="en-US"/>
          </a:p>
        </p:txBody>
      </p:sp>
      <p:pic>
        <p:nvPicPr>
          <p:cNvPr id="4" name="Picture 4"/>
          <p:cNvPicPr>
            <a:picLocks noChangeAspect="1" noChangeArrowheads="1"/>
          </p:cNvPicPr>
          <p:nvPr/>
        </p:nvPicPr>
        <p:blipFill>
          <a:blip r:embed="rId1"/>
          <a:srcRect/>
          <a:stretch>
            <a:fillRect/>
          </a:stretch>
        </p:blipFill>
        <p:spPr bwMode="auto">
          <a:xfrm>
            <a:off x="1285852" y="1071546"/>
            <a:ext cx="6389534" cy="45291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zh-CN" altLang="en-US" dirty="0" smtClean="0"/>
              <a:t>Limits On Arithmetic</a:t>
            </a:r>
            <a:endParaRPr lang="zh-CN" altLang="en-US" dirty="0"/>
          </a:p>
        </p:txBody>
      </p:sp>
      <p:sp>
        <p:nvSpPr>
          <p:cNvPr id="9219" name="Rectangle 3"/>
          <p:cNvSpPr>
            <a:spLocks noGrp="1" noChangeArrowheads="1"/>
          </p:cNvSpPr>
          <p:nvPr>
            <p:ph type="body" idx="1"/>
          </p:nvPr>
        </p:nvSpPr>
        <p:spPr/>
        <p:txBody>
          <a:bodyPr/>
          <a:lstStyle/>
          <a:p>
            <a:r>
              <a:rPr lang="zh-CN" altLang="en-US" dirty="0" smtClean="0"/>
              <a:t>Real </a:t>
            </a:r>
            <a:r>
              <a:rPr lang="zh-CN" altLang="en-US" dirty="0"/>
              <a:t>Numbers</a:t>
            </a:r>
            <a:endParaRPr lang="zh-CN" altLang="en-US" dirty="0"/>
          </a:p>
          <a:p>
            <a:r>
              <a:rPr lang="zh-CN" altLang="en-US" dirty="0"/>
              <a:t>Precision</a:t>
            </a:r>
            <a:endParaRPr lang="zh-CN" altLang="en-US" dirty="0"/>
          </a:p>
          <a:p>
            <a:r>
              <a:rPr lang="zh-CN" altLang="en-US" dirty="0"/>
              <a:t>Significant Digits</a:t>
            </a:r>
            <a:endParaRPr lang="zh-CN" altLang="en-US" dirty="0"/>
          </a:p>
          <a:p>
            <a:pPr>
              <a:buFont typeface="Wingdings 2" panose="05020102010507070707" pitchFamily="18" charset="2"/>
              <a:buNone/>
            </a:pPr>
            <a:r>
              <a:rPr lang="zh-CN" altLang="en-US" dirty="0"/>
              <a:t>     1.representational error</a:t>
            </a:r>
            <a:endParaRPr lang="zh-CN" altLang="en-US" dirty="0"/>
          </a:p>
          <a:p>
            <a:pPr>
              <a:buFont typeface="Wingdings 2" panose="05020102010507070707" pitchFamily="18" charset="2"/>
              <a:buNone/>
            </a:pPr>
            <a:r>
              <a:rPr lang="zh-CN" altLang="en-US" dirty="0"/>
              <a:t>     2.underflow</a:t>
            </a:r>
            <a:endParaRPr lang="zh-CN" altLang="en-US" dirty="0"/>
          </a:p>
          <a:p>
            <a:pPr>
              <a:buFont typeface="Wingdings 2" panose="05020102010507070707" pitchFamily="18" charset="2"/>
              <a:buNone/>
            </a:pPr>
            <a:r>
              <a:rPr lang="zh-CN" altLang="en-US" dirty="0"/>
              <a:t>     3.overflow</a:t>
            </a:r>
            <a:endParaRPr lang="zh-CN"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Limits Of </a:t>
            </a:r>
            <a:r>
              <a:rPr lang="zh-CN" altLang="en-US" dirty="0" smtClean="0"/>
              <a:t>Components</a:t>
            </a:r>
            <a:endParaRPr lang="zh-CN" altLang="en-US" dirty="0"/>
          </a:p>
        </p:txBody>
      </p:sp>
      <p:sp>
        <p:nvSpPr>
          <p:cNvPr id="3" name="内容占位符 2"/>
          <p:cNvSpPr>
            <a:spLocks noGrp="1"/>
          </p:cNvSpPr>
          <p:nvPr>
            <p:ph idx="1"/>
          </p:nvPr>
        </p:nvSpPr>
        <p:spPr/>
        <p:txBody>
          <a:bodyPr/>
          <a:lstStyle/>
          <a:p>
            <a:r>
              <a:rPr lang="en-US" altLang="zh-CN" dirty="0" smtClean="0"/>
              <a:t>Problem of hardware</a:t>
            </a:r>
            <a:endParaRPr lang="zh-CN"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Limits Of Communications</a:t>
            </a:r>
            <a:br>
              <a:rPr lang="zh-CN" altLang="en-US" dirty="0" smtClean="0"/>
            </a:br>
            <a:endParaRPr lang="zh-CN" altLang="en-US" dirty="0"/>
          </a:p>
        </p:txBody>
      </p:sp>
      <p:sp>
        <p:nvSpPr>
          <p:cNvPr id="3" name="内容占位符 2"/>
          <p:cNvSpPr>
            <a:spLocks noGrp="1"/>
          </p:cNvSpPr>
          <p:nvPr>
            <p:ph idx="1"/>
          </p:nvPr>
        </p:nvSpPr>
        <p:spPr/>
        <p:txBody>
          <a:bodyPr/>
          <a:lstStyle/>
          <a:p>
            <a:r>
              <a:rPr lang="zh-CN" altLang="en-US" dirty="0" smtClean="0"/>
              <a:t>Parity </a:t>
            </a:r>
            <a:r>
              <a:rPr lang="zh-CN" altLang="en-US" dirty="0" smtClean="0"/>
              <a:t>Bits,Check Digits,Error-Correct Codes</a:t>
            </a:r>
            <a:endParaRPr lang="zh-CN" altLang="en-US" dirty="0" smtClean="0"/>
          </a:p>
          <a:p>
            <a:endParaRPr lang="zh-CN" alt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zh-CN" dirty="0" smtClean="0"/>
              <a:t>Part2 </a:t>
            </a:r>
            <a:r>
              <a:rPr lang="zh-CN" altLang="en-US" dirty="0" smtClean="0"/>
              <a:t>Software</a:t>
            </a:r>
            <a:endParaRPr lang="zh-CN" altLang="en-US" dirty="0"/>
          </a:p>
        </p:txBody>
      </p:sp>
      <p:sp>
        <p:nvSpPr>
          <p:cNvPr id="10243" name="Rectangle 3"/>
          <p:cNvSpPr>
            <a:spLocks noGrp="1" noChangeArrowheads="1"/>
          </p:cNvSpPr>
          <p:nvPr>
            <p:ph type="body" idx="1"/>
          </p:nvPr>
        </p:nvSpPr>
        <p:spPr/>
        <p:txBody>
          <a:bodyPr/>
          <a:lstStyle/>
          <a:p>
            <a:r>
              <a:rPr lang="zh-CN" altLang="en-US" dirty="0"/>
              <a:t>Complexity of Software</a:t>
            </a:r>
            <a:endParaRPr lang="zh-CN" altLang="en-US" dirty="0"/>
          </a:p>
          <a:p>
            <a:pPr>
              <a:buFont typeface="Wingdings 2" panose="05020102010507070707" pitchFamily="18" charset="2"/>
              <a:buNone/>
            </a:pPr>
            <a:r>
              <a:rPr lang="zh-CN" altLang="en-US" dirty="0"/>
              <a:t>         </a:t>
            </a:r>
            <a:r>
              <a:rPr lang="zh-CN" altLang="en-US" sz="2800" dirty="0"/>
              <a:t>As our machines have grown increasingly more powerful,the problems that can be tackled have become increasingly more complex.</a:t>
            </a:r>
            <a:endParaRPr lang="zh-CN" altLang="en-US"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zh-CN" altLang="en-US"/>
              <a:t>Limits Of Software</a:t>
            </a:r>
            <a:endParaRPr lang="zh-CN" altLang="en-US"/>
          </a:p>
        </p:txBody>
      </p:sp>
      <p:sp>
        <p:nvSpPr>
          <p:cNvPr id="11267" name="Rectangle 3"/>
          <p:cNvSpPr>
            <a:spLocks noGrp="1" noChangeArrowheads="1"/>
          </p:cNvSpPr>
          <p:nvPr>
            <p:ph type="body" idx="1"/>
          </p:nvPr>
        </p:nvSpPr>
        <p:spPr/>
        <p:txBody>
          <a:bodyPr/>
          <a:lstStyle/>
          <a:p>
            <a:r>
              <a:rPr lang="zh-CN" altLang="en-US" dirty="0"/>
              <a:t>How to improve the quality of the software?</a:t>
            </a:r>
            <a:endParaRPr lang="zh-CN" altLang="en-US" dirty="0"/>
          </a:p>
          <a:p>
            <a:pPr>
              <a:buFont typeface="Wingdings 2" panose="05020102010507070707" pitchFamily="18" charset="2"/>
              <a:buNone/>
            </a:pPr>
            <a:r>
              <a:rPr lang="zh-CN" altLang="en-US" dirty="0"/>
              <a:t>   </a:t>
            </a:r>
            <a:r>
              <a:rPr lang="zh-CN" altLang="en-US" dirty="0" smtClean="0"/>
              <a:t>  </a:t>
            </a:r>
            <a:r>
              <a:rPr lang="zh-CN" altLang="en-US" sz="2800" dirty="0" smtClean="0"/>
              <a:t>Software  </a:t>
            </a:r>
            <a:r>
              <a:rPr lang="zh-CN" altLang="en-US" sz="2800" dirty="0"/>
              <a:t>Engineering</a:t>
            </a:r>
            <a:endParaRPr lang="zh-CN" altLang="en-US" sz="2800" dirty="0"/>
          </a:p>
          <a:p>
            <a:pPr>
              <a:buFont typeface="Wingdings 2" panose="05020102010507070707" pitchFamily="18" charset="2"/>
              <a:buNone/>
            </a:pPr>
            <a:r>
              <a:rPr lang="zh-CN" altLang="en-US" sz="2800" dirty="0"/>
              <a:t>    </a:t>
            </a:r>
            <a:r>
              <a:rPr lang="zh-CN" altLang="en-US" sz="2800" dirty="0" smtClean="0"/>
              <a:t>  </a:t>
            </a:r>
            <a:r>
              <a:rPr lang="zh-CN" altLang="en-US" sz="2800" dirty="0"/>
              <a:t>Formal  Verification</a:t>
            </a:r>
            <a:endParaRPr lang="zh-CN" altLang="en-US" sz="2800" dirty="0"/>
          </a:p>
          <a:p>
            <a:pPr>
              <a:buFont typeface="Wingdings 2" panose="05020102010507070707" pitchFamily="18" charset="2"/>
              <a:buNone/>
            </a:pPr>
            <a:r>
              <a:rPr lang="zh-CN" altLang="en-US" sz="2800" dirty="0"/>
              <a:t>   </a:t>
            </a:r>
            <a:r>
              <a:rPr lang="zh-CN" altLang="en-US" sz="2800" dirty="0" smtClean="0"/>
              <a:t>   Open</a:t>
            </a:r>
            <a:r>
              <a:rPr lang="zh-CN" altLang="en-US" sz="2800" dirty="0"/>
              <a:t>-source Movement:Unix,Linux</a:t>
            </a:r>
            <a:endParaRPr lang="zh-CN" altLang="en-US" sz="2800" dirty="0"/>
          </a:p>
          <a:p>
            <a:pPr>
              <a:buFont typeface="Wingdings 2" panose="05020102010507070707" pitchFamily="18" charset="2"/>
              <a:buNone/>
            </a:pPr>
            <a:r>
              <a:rPr lang="zh-CN" altLang="en-US" sz="2800" dirty="0"/>
              <a:t>    </a:t>
            </a:r>
            <a:endParaRPr lang="zh-CN" altLang="en-US" sz="2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title"/>
          </p:nvPr>
        </p:nvSpPr>
        <p:spPr/>
        <p:txBody>
          <a:bodyPr/>
          <a:lstStyle/>
          <a:p>
            <a:r>
              <a:rPr lang="zh-CN" altLang="en-US"/>
              <a:t>Software Error</a:t>
            </a:r>
            <a:endParaRPr lang="zh-CN" altLang="en-US"/>
          </a:p>
        </p:txBody>
      </p:sp>
      <p:sp>
        <p:nvSpPr>
          <p:cNvPr id="12292" name="Rectangle 4"/>
          <p:cNvSpPr>
            <a:spLocks noGrp="1" noChangeArrowheads="1"/>
          </p:cNvSpPr>
          <p:nvPr>
            <p:ph type="body" idx="1"/>
          </p:nvPr>
        </p:nvSpPr>
        <p:spPr/>
        <p:txBody>
          <a:bodyPr/>
          <a:lstStyle/>
          <a:p>
            <a:r>
              <a:rPr lang="zh-CN" altLang="en-US" dirty="0"/>
              <a:t>AT&amp;T Down for Nine Hour</a:t>
            </a:r>
            <a:endParaRPr lang="zh-CN" altLang="en-US" dirty="0"/>
          </a:p>
          <a:p>
            <a:pPr>
              <a:buFont typeface="Wingdings 2" panose="05020102010507070707" pitchFamily="18" charset="2"/>
              <a:buNone/>
            </a:pPr>
            <a:r>
              <a:rPr lang="zh-CN" altLang="en-US" sz="2400" dirty="0"/>
              <a:t>  </a:t>
            </a:r>
            <a:r>
              <a:rPr lang="zh-CN" altLang="en-US" sz="2400" dirty="0" smtClean="0"/>
              <a:t> </a:t>
            </a:r>
            <a:r>
              <a:rPr lang="en-US" altLang="zh-CN" sz="2400" dirty="0" smtClean="0"/>
              <a:t>-- </a:t>
            </a:r>
            <a:r>
              <a:rPr lang="zh-CN" altLang="en-US" sz="2400" dirty="0" smtClean="0"/>
              <a:t>Of </a:t>
            </a:r>
            <a:r>
              <a:rPr lang="zh-CN" altLang="en-US" sz="2400" dirty="0"/>
              <a:t>the 148 million long-distance and toll-free calls placed </a:t>
            </a:r>
            <a:r>
              <a:rPr lang="zh-CN" altLang="en-US" sz="2400" dirty="0" smtClean="0"/>
              <a:t>       with </a:t>
            </a:r>
            <a:r>
              <a:rPr lang="zh-CN" altLang="en-US" sz="2400" dirty="0"/>
              <a:t>AT&amp;T that day,only 50% got through.This failure </a:t>
            </a:r>
            <a:r>
              <a:rPr lang="zh-CN" altLang="en-US" sz="2400" dirty="0" smtClean="0"/>
              <a:t>  caused </a:t>
            </a:r>
            <a:r>
              <a:rPr lang="zh-CN" altLang="en-US" sz="2400" dirty="0"/>
              <a:t>untold collateral damages:</a:t>
            </a:r>
            <a:endParaRPr lang="zh-CN" altLang="en-US" sz="2400" dirty="0"/>
          </a:p>
          <a:p>
            <a:pPr>
              <a:buFont typeface="Wingdings 2" panose="05020102010507070707" pitchFamily="18" charset="2"/>
              <a:buNone/>
            </a:pPr>
            <a:r>
              <a:rPr lang="zh-CN" altLang="en-US" sz="2400" dirty="0"/>
              <a:t>   </a:t>
            </a:r>
            <a:r>
              <a:rPr lang="en-US" altLang="zh-CN" sz="2400" dirty="0" smtClean="0"/>
              <a:t>--</a:t>
            </a:r>
            <a:r>
              <a:rPr lang="zh-CN" altLang="en-US" sz="2400" dirty="0" smtClean="0"/>
              <a:t> </a:t>
            </a:r>
            <a:r>
              <a:rPr lang="zh-CN" altLang="en-US" sz="2400" dirty="0"/>
              <a:t>Hotel lost bookings.</a:t>
            </a:r>
            <a:endParaRPr lang="zh-CN" altLang="en-US" sz="2400" dirty="0"/>
          </a:p>
          <a:p>
            <a:pPr>
              <a:buFont typeface="Wingdings 2" panose="05020102010507070707" pitchFamily="18" charset="2"/>
              <a:buNone/>
            </a:pPr>
            <a:r>
              <a:rPr lang="zh-CN" altLang="en-US" sz="2400" dirty="0"/>
              <a:t>   </a:t>
            </a:r>
            <a:r>
              <a:rPr lang="en-US" altLang="zh-CN" sz="2400" dirty="0" smtClean="0"/>
              <a:t>--</a:t>
            </a:r>
            <a:r>
              <a:rPr lang="zh-CN" altLang="en-US" sz="2400" dirty="0" smtClean="0"/>
              <a:t> </a:t>
            </a:r>
            <a:r>
              <a:rPr lang="zh-CN" altLang="en-US" sz="2400" dirty="0"/>
              <a:t>Rental car agencies lost rentals</a:t>
            </a:r>
            <a:endParaRPr lang="zh-CN" altLang="en-US" sz="2400" dirty="0"/>
          </a:p>
          <a:p>
            <a:pPr>
              <a:buFont typeface="Wingdings 2" panose="05020102010507070707" pitchFamily="18" charset="2"/>
              <a:buNone/>
            </a:pPr>
            <a:r>
              <a:rPr lang="zh-CN" altLang="en-US" sz="2400" dirty="0"/>
              <a:t> </a:t>
            </a:r>
            <a:r>
              <a:rPr lang="zh-CN" altLang="en-US" sz="2400" dirty="0" smtClean="0"/>
              <a:t>  </a:t>
            </a:r>
            <a:r>
              <a:rPr lang="en-US" altLang="zh-CN" sz="2400" dirty="0" smtClean="0"/>
              <a:t>-- </a:t>
            </a:r>
            <a:r>
              <a:rPr lang="zh-CN" altLang="en-US" sz="2400" dirty="0" smtClean="0"/>
              <a:t>American </a:t>
            </a:r>
            <a:r>
              <a:rPr lang="zh-CN" altLang="en-US" sz="2400" dirty="0"/>
              <a:t>Airlines'  reservation system traffic fell by 2/3</a:t>
            </a:r>
            <a:endParaRPr lang="zh-CN" altLang="en-US" sz="2400" dirty="0"/>
          </a:p>
          <a:p>
            <a:pPr>
              <a:buFont typeface="Wingdings 2" panose="05020102010507070707" pitchFamily="18" charset="2"/>
              <a:buNone/>
            </a:pPr>
            <a:r>
              <a:rPr lang="zh-CN" altLang="en-US" sz="2400" dirty="0"/>
              <a:t>   </a:t>
            </a:r>
            <a:r>
              <a:rPr lang="en-US" altLang="zh-CN" sz="2400" dirty="0" smtClean="0"/>
              <a:t>--</a:t>
            </a:r>
            <a:r>
              <a:rPr lang="zh-CN" altLang="en-US" sz="2400" dirty="0" smtClean="0"/>
              <a:t> </a:t>
            </a:r>
            <a:r>
              <a:rPr lang="zh-CN" altLang="en-US" sz="2400" dirty="0"/>
              <a:t>A telemarketing company lost $75,000 in estimated sales</a:t>
            </a:r>
            <a:endParaRPr lang="zh-CN" altLang="en-US" sz="2400" dirty="0"/>
          </a:p>
          <a:p>
            <a:pPr>
              <a:buFont typeface="Wingdings 2" panose="05020102010507070707" pitchFamily="18" charset="2"/>
              <a:buNone/>
            </a:pPr>
            <a:r>
              <a:rPr lang="zh-CN" altLang="en-US" sz="2400" dirty="0"/>
              <a:t>   </a:t>
            </a:r>
            <a:r>
              <a:rPr lang="en-US" altLang="zh-CN" sz="2400" dirty="0" smtClean="0"/>
              <a:t>--</a:t>
            </a:r>
            <a:r>
              <a:rPr lang="zh-CN" altLang="en-US" sz="2400" dirty="0" smtClean="0"/>
              <a:t> </a:t>
            </a:r>
            <a:r>
              <a:rPr lang="zh-CN" altLang="en-US" sz="2400" dirty="0"/>
              <a:t>AT&amp;T lost some $60 million to $75 million</a:t>
            </a:r>
            <a:endParaRPr lang="zh-CN" altLang="en-US" sz="2400" dirty="0"/>
          </a:p>
          <a:p>
            <a:pPr>
              <a:buFont typeface="Wingdings 2" panose="05020102010507070707" pitchFamily="18" charset="2"/>
              <a:buNone/>
            </a:pPr>
            <a:r>
              <a:rPr lang="zh-CN" altLang="en-US" dirty="0"/>
              <a:t>    </a:t>
            </a:r>
            <a:endParaRPr lang="zh-CN" alt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zh-CN" altLang="en-US"/>
              <a:t>Software Error</a:t>
            </a:r>
            <a:endParaRPr lang="zh-CN" altLang="en-US"/>
          </a:p>
        </p:txBody>
      </p:sp>
      <p:sp>
        <p:nvSpPr>
          <p:cNvPr id="13315" name="Rectangle 3"/>
          <p:cNvSpPr>
            <a:spLocks noGrp="1" noChangeArrowheads="1"/>
          </p:cNvSpPr>
          <p:nvPr>
            <p:ph type="body" idx="1"/>
          </p:nvPr>
        </p:nvSpPr>
        <p:spPr/>
        <p:txBody>
          <a:bodyPr/>
          <a:lstStyle/>
          <a:p>
            <a:pPr>
              <a:lnSpc>
                <a:spcPct val="90000"/>
              </a:lnSpc>
            </a:pPr>
            <a:r>
              <a:rPr lang="zh-CN" altLang="en-US" sz="1800" dirty="0"/>
              <a:t>Thral-25</a:t>
            </a:r>
            <a:endParaRPr lang="zh-CN" altLang="en-US" sz="1800" dirty="0"/>
          </a:p>
          <a:p>
            <a:pPr>
              <a:lnSpc>
                <a:spcPct val="90000"/>
              </a:lnSpc>
              <a:buFont typeface="Wingdings 2" panose="05020102010507070707" pitchFamily="18" charset="2"/>
              <a:buNone/>
            </a:pPr>
            <a:r>
              <a:rPr lang="zh-CN" altLang="en-US" sz="1800" dirty="0"/>
              <a:t>     The Therac-25 was a radiation therapy machine produced by Atomic Energy of Canada Limited (AECL) after the Therac-6 and Therac-20 units .It was involved in at least six accidents between 1985 and 1987, in which patients were given massive overdoses of radiation. Because of concurrent programming errors, it sometimes gave its patients radiation doses that were thousands of times greater than normal, resulting in death or serious injury.These accidents highlighted the dangers of software control of safety-critical systems,and they have become a standard case study in health informatics and software engineering.</a:t>
            </a:r>
            <a:endParaRPr lang="zh-CN" altLang="en-US" sz="1800" dirty="0"/>
          </a:p>
          <a:p>
            <a:pPr>
              <a:lnSpc>
                <a:spcPct val="90000"/>
              </a:lnSpc>
            </a:pPr>
            <a:r>
              <a:rPr lang="zh-CN" altLang="en-US" sz="1800" dirty="0"/>
              <a:t>Bugs in Goverment Projects</a:t>
            </a:r>
            <a:endParaRPr lang="zh-CN" altLang="en-US" sz="1800" dirty="0"/>
          </a:p>
          <a:p>
            <a:pPr>
              <a:lnSpc>
                <a:spcPct val="90000"/>
              </a:lnSpc>
              <a:buFont typeface="Wingdings 2" panose="05020102010507070707" pitchFamily="18" charset="2"/>
              <a:buNone/>
            </a:pPr>
            <a:r>
              <a:rPr lang="zh-CN" altLang="en-US" sz="1800" dirty="0"/>
              <a:t>      1.In October 1999,the Mars Climate Orbiter entered the Martian atmosphere about 100 kilometers lower than expected,causing the craft to burn up.</a:t>
            </a:r>
            <a:endParaRPr lang="zh-CN" altLang="en-US" sz="1800" dirty="0"/>
          </a:p>
          <a:p>
            <a:pPr>
              <a:lnSpc>
                <a:spcPct val="90000"/>
              </a:lnSpc>
              <a:buFont typeface="Wingdings 2" panose="05020102010507070707" pitchFamily="18" charset="2"/>
              <a:buNone/>
            </a:pPr>
            <a:r>
              <a:rPr lang="zh-CN" altLang="en-US" sz="1800" dirty="0"/>
              <a:t>      2.An unmanned Ariane 5 rocket lauched by the European Space Agency exploded on June 4,1996,just 40 seconds after lift-off.</a:t>
            </a:r>
            <a:endParaRPr lang="zh-CN" altLang="en-US" sz="18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b="1" dirty="0">
                <a:solidFill>
                  <a:schemeClr val="bg1"/>
                </a:solidFill>
              </a:rPr>
              <a:t>Part3 Problems</a:t>
            </a:r>
            <a:endParaRPr kumimoji="1" lang="zh-CN" altLang="en-US" b="1" dirty="0">
              <a:solidFill>
                <a:schemeClr val="bg1"/>
              </a:solidFill>
            </a:endParaRPr>
          </a:p>
        </p:txBody>
      </p:sp>
      <p:sp>
        <p:nvSpPr>
          <p:cNvPr id="3" name="内容占位符 2"/>
          <p:cNvSpPr>
            <a:spLocks noGrp="1"/>
          </p:cNvSpPr>
          <p:nvPr>
            <p:ph idx="1"/>
          </p:nvPr>
        </p:nvSpPr>
        <p:spPr/>
        <p:txBody>
          <a:bodyPr>
            <a:normAutofit/>
          </a:bodyPr>
          <a:lstStyle/>
          <a:p>
            <a:r>
              <a:rPr kumimoji="1" lang="en-US" altLang="zh-CN" dirty="0" smtClean="0">
                <a:solidFill>
                  <a:srgbClr val="FFFF00"/>
                </a:solidFill>
              </a:rPr>
              <a:t>Comparing  Algorithms</a:t>
            </a:r>
            <a:endParaRPr kumimoji="1" lang="en-US" altLang="zh-CN" dirty="0" smtClean="0">
              <a:solidFill>
                <a:srgbClr val="FFFF00"/>
              </a:solidFill>
            </a:endParaRPr>
          </a:p>
          <a:p>
            <a:r>
              <a:rPr kumimoji="1" lang="en-US" altLang="zh-CN" dirty="0" smtClean="0">
                <a:solidFill>
                  <a:srgbClr val="FFFF00"/>
                </a:solidFill>
              </a:rPr>
              <a:t>Turing Machines</a:t>
            </a:r>
            <a:endParaRPr kumimoji="1" lang="en-US" altLang="zh-CN" dirty="0" smtClean="0">
              <a:solidFill>
                <a:srgbClr val="FFFF00"/>
              </a:solidFill>
            </a:endParaRPr>
          </a:p>
          <a:p>
            <a:r>
              <a:rPr kumimoji="1" lang="en-US" altLang="zh-CN" dirty="0" smtClean="0">
                <a:solidFill>
                  <a:srgbClr val="FFFF00"/>
                </a:solidFill>
              </a:rPr>
              <a:t>Halting Problem</a:t>
            </a:r>
            <a:endParaRPr kumimoji="1" lang="en-US" altLang="zh-CN" dirty="0" smtClean="0">
              <a:solidFill>
                <a:srgbClr val="FFFF00"/>
              </a:solidFill>
            </a:endParaRPr>
          </a:p>
          <a:p>
            <a:r>
              <a:rPr kumimoji="1" lang="en-US" altLang="zh-CN" dirty="0" smtClean="0">
                <a:solidFill>
                  <a:srgbClr val="FFFF00"/>
                </a:solidFill>
              </a:rPr>
              <a:t>Classification of  Algorithms</a:t>
            </a:r>
            <a:endParaRPr kumimoji="1" lang="zh-CN" altLang="en-US" dirty="0">
              <a:solidFill>
                <a:srgbClr val="FFFF00"/>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b="1" dirty="0">
                <a:solidFill>
                  <a:schemeClr val="bg1"/>
                </a:solidFill>
              </a:rPr>
              <a:t>Comparing A</a:t>
            </a:r>
            <a:r>
              <a:rPr kumimoji="1" lang="en-US" altLang="zh-CN" b="1" dirty="0">
                <a:solidFill>
                  <a:schemeClr val="bg1">
                    <a:lumMod val="85000"/>
                  </a:schemeClr>
                </a:solidFill>
              </a:rPr>
              <a:t>lgo</a:t>
            </a:r>
            <a:r>
              <a:rPr kumimoji="1" lang="en-US" altLang="zh-CN" b="1" dirty="0">
                <a:solidFill>
                  <a:schemeClr val="bg1"/>
                </a:solidFill>
              </a:rPr>
              <a:t>rithms</a:t>
            </a:r>
            <a:endParaRPr kumimoji="1" lang="zh-CN" altLang="en-US" b="1" dirty="0">
              <a:solidFill>
                <a:schemeClr val="bg1"/>
              </a:solidFill>
            </a:endParaRPr>
          </a:p>
        </p:txBody>
      </p:sp>
      <p:sp>
        <p:nvSpPr>
          <p:cNvPr id="5" name="内容占位符 4"/>
          <p:cNvSpPr>
            <a:spLocks noGrp="1"/>
          </p:cNvSpPr>
          <p:nvPr>
            <p:ph idx="1"/>
          </p:nvPr>
        </p:nvSpPr>
        <p:spPr/>
        <p:txBody>
          <a:bodyPr/>
          <a:lstStyle/>
          <a:p>
            <a:r>
              <a:rPr lang="en-US" altLang="zh-CN" dirty="0" smtClean="0"/>
              <a:t>E.G.</a:t>
            </a:r>
            <a:endParaRPr lang="en-US" altLang="zh-CN" dirty="0" smtClean="0"/>
          </a:p>
          <a:p>
            <a:endParaRPr lang="zh-CN" altLang="en-US" dirty="0"/>
          </a:p>
        </p:txBody>
      </p:sp>
      <p:pic>
        <p:nvPicPr>
          <p:cNvPr id="6" name="Picture 2"/>
          <p:cNvPicPr>
            <a:picLocks noChangeAspect="1" noChangeArrowheads="1"/>
          </p:cNvPicPr>
          <p:nvPr/>
        </p:nvPicPr>
        <p:blipFill>
          <a:blip r:embed="rId1"/>
          <a:srcRect/>
          <a:stretch>
            <a:fillRect/>
          </a:stretch>
        </p:blipFill>
        <p:spPr bwMode="auto">
          <a:xfrm>
            <a:off x="785786" y="2500306"/>
            <a:ext cx="4000528" cy="2658105"/>
          </a:xfrm>
          <a:prstGeom prst="rect">
            <a:avLst/>
          </a:prstGeom>
          <a:noFill/>
          <a:ln w="9525">
            <a:noFill/>
            <a:miter lim="800000"/>
            <a:headEnd/>
            <a:tailEnd/>
          </a:ln>
          <a:effectLst/>
        </p:spPr>
      </p:pic>
      <p:sp>
        <p:nvSpPr>
          <p:cNvPr id="7" name="TextBox 6"/>
          <p:cNvSpPr txBox="1"/>
          <p:nvPr/>
        </p:nvSpPr>
        <p:spPr>
          <a:xfrm>
            <a:off x="5072066" y="2428868"/>
            <a:ext cx="3643338" cy="2031325"/>
          </a:xfrm>
          <a:prstGeom prst="rect">
            <a:avLst/>
          </a:prstGeom>
          <a:noFill/>
        </p:spPr>
        <p:txBody>
          <a:bodyPr wrap="square" rtlCol="0">
            <a:spAutoFit/>
          </a:bodyPr>
          <a:lstStyle/>
          <a:p>
            <a:r>
              <a:rPr lang="en-US" altLang="zh-CN" dirty="0" smtClean="0">
                <a:solidFill>
                  <a:srgbClr val="FFFF00"/>
                </a:solidFill>
                <a:latin typeface="Arial" panose="020B0604020202020204" pitchFamily="34" charset="0"/>
                <a:ea typeface="宋体" panose="02010600030101010101" pitchFamily="2" charset="-122"/>
              </a:rPr>
              <a:t>If you were asked for directions to Joe’s Diner , you could give either of two equally correct answers:</a:t>
            </a:r>
            <a:endParaRPr lang="en-US" altLang="zh-CN" dirty="0" smtClean="0">
              <a:solidFill>
                <a:srgbClr val="FFFF00"/>
              </a:solidFill>
              <a:latin typeface="Arial" panose="020B0604020202020204" pitchFamily="34" charset="0"/>
              <a:ea typeface="宋体" panose="02010600030101010101" pitchFamily="2" charset="-122"/>
            </a:endParaRPr>
          </a:p>
          <a:p>
            <a:r>
              <a:rPr lang="en-US" altLang="zh-CN" dirty="0" smtClean="0">
                <a:solidFill>
                  <a:srgbClr val="FFFF00"/>
                </a:solidFill>
              </a:rPr>
              <a:t>1.Go east on the big highway to the Y’all Come Inn , and turn left.</a:t>
            </a:r>
            <a:endParaRPr lang="en-US" altLang="zh-CN" dirty="0" smtClean="0">
              <a:solidFill>
                <a:srgbClr val="FFFF00"/>
              </a:solidFill>
            </a:endParaRPr>
          </a:p>
          <a:p>
            <a:r>
              <a:rPr lang="en-US" altLang="zh-CN" dirty="0" smtClean="0">
                <a:solidFill>
                  <a:srgbClr val="FFFF00"/>
                </a:solidFill>
              </a:rPr>
              <a:t>2.Take the winding country road to Honeysuckle Lodge , and turn right.</a:t>
            </a:r>
            <a:endParaRPr lang="zh-CN" altLang="en-US" dirty="0">
              <a:solidFill>
                <a:srgbClr val="FFFF00"/>
              </a:solidFill>
            </a:endParaRPr>
          </a:p>
        </p:txBody>
      </p:sp>
      <p:sp>
        <p:nvSpPr>
          <p:cNvPr id="8" name="TextBox 7"/>
          <p:cNvSpPr txBox="1"/>
          <p:nvPr/>
        </p:nvSpPr>
        <p:spPr>
          <a:xfrm>
            <a:off x="642910" y="5214950"/>
            <a:ext cx="7786742" cy="1477328"/>
          </a:xfrm>
          <a:prstGeom prst="rect">
            <a:avLst/>
          </a:prstGeom>
          <a:noFill/>
        </p:spPr>
        <p:txBody>
          <a:bodyPr wrap="square" rtlCol="0">
            <a:spAutoFit/>
          </a:bodyPr>
          <a:lstStyle/>
          <a:p>
            <a:r>
              <a:rPr lang="en-US" altLang="zh-CN" dirty="0" smtClean="0">
                <a:solidFill>
                  <a:srgbClr val="FFFF00"/>
                </a:solidFill>
              </a:rPr>
              <a:t>If the request for directions contained special requirements , one should might be preferable to the other.</a:t>
            </a:r>
            <a:endParaRPr lang="en-US" altLang="zh-CN" dirty="0" smtClean="0">
              <a:solidFill>
                <a:srgbClr val="FFFF00"/>
              </a:solidFill>
            </a:endParaRPr>
          </a:p>
          <a:p>
            <a:r>
              <a:rPr lang="en-US" altLang="zh-CN" dirty="0" smtClean="0">
                <a:solidFill>
                  <a:srgbClr val="FFFF00"/>
                </a:solidFill>
              </a:rPr>
              <a:t>1.I’m late for dinner , What’s the quickest route to Joe’s Dinner?</a:t>
            </a:r>
            <a:endParaRPr lang="en-US" altLang="zh-CN" dirty="0" smtClean="0">
              <a:solidFill>
                <a:srgbClr val="FFFF00"/>
              </a:solidFill>
            </a:endParaRPr>
          </a:p>
          <a:p>
            <a:r>
              <a:rPr lang="en-US" altLang="zh-CN" dirty="0" smtClean="0">
                <a:solidFill>
                  <a:srgbClr val="FFFF00"/>
                </a:solidFill>
              </a:rPr>
              <a:t>2.Is there a scenic road that I can take to get to Joe’s Diner?</a:t>
            </a:r>
            <a:br>
              <a:rPr lang="en-US" altLang="zh-CN" dirty="0" smtClean="0"/>
            </a:b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1" nodeType="clickEffect">
                                  <p:stCondLst>
                                    <p:cond delay="0"/>
                                  </p:stCondLst>
                                  <p:iterate type="lt">
                                    <p:tmPct val="0"/>
                                  </p:iterate>
                                  <p:childTnLst>
                                    <p:set>
                                      <p:cBhvr>
                                        <p:cTn id="11" dur="1" fill="hold">
                                          <p:stCondLst>
                                            <p:cond delay="0"/>
                                          </p:stCondLst>
                                        </p:cTn>
                                        <p:tgtEl>
                                          <p:spTgt spid="7"/>
                                        </p:tgtEl>
                                        <p:attrNameLst>
                                          <p:attrName>style.visibility</p:attrName>
                                        </p:attrNameLst>
                                      </p:cBhvr>
                                      <p:to>
                                        <p:strVal val="visible"/>
                                      </p:to>
                                    </p:set>
                                    <p:animEffect transition="in" filter="checkerboard(across)">
                                      <p:cBhvr>
                                        <p:cTn id="12" dur="500"/>
                                        <p:tgtEl>
                                          <p:spTgt spid="7"/>
                                        </p:tgtEl>
                                      </p:cBhvr>
                                    </p:animEffect>
                                  </p:childTnLst>
                                  <p:subTnLst>
                                    <p:animClr>
                                      <p:cBhvr override="childStyle">
                                        <p:cTn dur="1" fill="hold" display="0" masterRel="nextClick" afterEffect="1"/>
                                        <p:tgtEl>
                                          <p:spTgt spid="7"/>
                                        </p:tgtEl>
                                        <p:attrNameLst>
                                          <p:attrName>ppt_c</p:attrName>
                                        </p:attrNameLst>
                                      </p:cBhvr>
                                      <p:to>
                                        <a:schemeClr val="bg2"/>
                                      </p:to>
                                    </p:animClr>
                                  </p:subTnLst>
                                </p:cTn>
                              </p:par>
                            </p:childTnLst>
                          </p:cTn>
                        </p:par>
                      </p:childTnLst>
                    </p:cTn>
                  </p:par>
                  <p:par>
                    <p:cTn id="13" fill="hold">
                      <p:stCondLst>
                        <p:cond delay="indefinite"/>
                      </p:stCondLst>
                      <p:childTnLst>
                        <p:par>
                          <p:cTn id="14" fill="hold">
                            <p:stCondLst>
                              <p:cond delay="0"/>
                            </p:stCondLst>
                            <p:childTnLst>
                              <p:par>
                                <p:cTn id="15" presetID="29"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1000" fill="hold"/>
                                        <p:tgtEl>
                                          <p:spTgt spid="8"/>
                                        </p:tgtEl>
                                        <p:attrNameLst>
                                          <p:attrName>ppt_x</p:attrName>
                                        </p:attrNameLst>
                                      </p:cBhvr>
                                      <p:tavLst>
                                        <p:tav tm="0">
                                          <p:val>
                                            <p:strVal val="#ppt_x-.2"/>
                                          </p:val>
                                        </p:tav>
                                        <p:tav tm="100000">
                                          <p:val>
                                            <p:strVal val="#ppt_x"/>
                                          </p:val>
                                        </p:tav>
                                      </p:tavLst>
                                    </p:anim>
                                    <p:anim calcmode="lin" valueType="num">
                                      <p:cBhvr>
                                        <p:cTn id="18"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19" dur="1000"/>
                                        <p:tgtEl>
                                          <p:spTgt spid="8"/>
                                        </p:tgtEl>
                                      </p:cBhvr>
                                    </p:animEffect>
                                  </p:childTnLst>
                                  <p:subTnLst>
                                    <p:animClr>
                                      <p:cBhvr override="childStyle">
                                        <p:cTn dur="1" fill="hold" display="0" masterRel="nextClick" afterEffect="1"/>
                                        <p:tgtEl>
                                          <p:spTgt spid="8"/>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1"/>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chemeClr val="bg1">
                    <a:lumMod val="85000"/>
                  </a:schemeClr>
                </a:solidFill>
              </a:rPr>
              <a:t>Comparing Algorithms</a:t>
            </a:r>
            <a:endParaRPr lang="zh-CN" altLang="en-US" dirty="0">
              <a:solidFill>
                <a:schemeClr val="bg1">
                  <a:lumMod val="85000"/>
                </a:schemeClr>
              </a:solidFill>
            </a:endParaRPr>
          </a:p>
        </p:txBody>
      </p:sp>
      <p:sp>
        <p:nvSpPr>
          <p:cNvPr id="3" name="内容占位符 2"/>
          <p:cNvSpPr>
            <a:spLocks noGrp="1"/>
          </p:cNvSpPr>
          <p:nvPr>
            <p:ph idx="1"/>
          </p:nvPr>
        </p:nvSpPr>
        <p:spPr/>
        <p:txBody>
          <a:bodyPr/>
          <a:lstStyle/>
          <a:p>
            <a:r>
              <a:rPr lang="en-US" altLang="zh-CN" dirty="0" smtClean="0">
                <a:solidFill>
                  <a:srgbClr val="FFFF00"/>
                </a:solidFill>
              </a:rPr>
              <a:t>The analysis of algorithms</a:t>
            </a:r>
            <a:endParaRPr lang="en-US" altLang="zh-CN" dirty="0" smtClean="0">
              <a:solidFill>
                <a:srgbClr val="FFFF00"/>
              </a:solidFill>
            </a:endParaRPr>
          </a:p>
          <a:p>
            <a:pPr>
              <a:buNone/>
            </a:pPr>
            <a:r>
              <a:rPr lang="en-US" altLang="zh-CN" dirty="0" smtClean="0">
                <a:solidFill>
                  <a:srgbClr val="FFFF00"/>
                </a:solidFill>
              </a:rPr>
              <a:t>    </a:t>
            </a:r>
            <a:r>
              <a:rPr lang="en-US" altLang="zh-CN" sz="1100" dirty="0" smtClean="0">
                <a:solidFill>
                  <a:srgbClr val="FFFF00"/>
                </a:solidFill>
                <a:latin typeface="Constantia" panose="02030602050306030303"/>
              </a:rPr>
              <a:t>○ </a:t>
            </a:r>
            <a:r>
              <a:rPr lang="en-US" altLang="zh-CN" sz="2000" dirty="0" smtClean="0">
                <a:solidFill>
                  <a:srgbClr val="FFFF00"/>
                </a:solidFill>
                <a:latin typeface="Constantia" panose="02030602050306030303"/>
              </a:rPr>
              <a:t>The first solution that comes to mind is simply to code the algorithms and then compare the execution times for running the two programs.</a:t>
            </a:r>
            <a:endParaRPr lang="en-US" altLang="zh-CN" sz="2000" dirty="0" smtClean="0">
              <a:solidFill>
                <a:srgbClr val="FFFF00"/>
              </a:solidFill>
              <a:latin typeface="Constantia" panose="02030602050306030303"/>
            </a:endParaRPr>
          </a:p>
          <a:p>
            <a:pPr>
              <a:buNone/>
            </a:pPr>
            <a:r>
              <a:rPr lang="en-US" altLang="zh-CN" sz="2000" dirty="0" smtClean="0">
                <a:solidFill>
                  <a:srgbClr val="FFFF00"/>
                </a:solidFill>
              </a:rPr>
              <a:t>      </a:t>
            </a:r>
            <a:r>
              <a:rPr lang="en-US" altLang="zh-CN" sz="1100" dirty="0" smtClean="0">
                <a:solidFill>
                  <a:srgbClr val="FFFF00"/>
                </a:solidFill>
                <a:latin typeface="Constantia" panose="02030602050306030303"/>
              </a:rPr>
              <a:t>○  </a:t>
            </a:r>
            <a:r>
              <a:rPr lang="en-US" altLang="zh-CN" sz="2000" dirty="0" smtClean="0">
                <a:solidFill>
                  <a:srgbClr val="FFFF00"/>
                </a:solidFill>
                <a:latin typeface="Constantia" panose="02030602050306030303"/>
              </a:rPr>
              <a:t>A second possibility is to count the number of instructions or statements executed.</a:t>
            </a:r>
            <a:endParaRPr lang="en-US" altLang="zh-CN" sz="2000" dirty="0" smtClean="0">
              <a:solidFill>
                <a:srgbClr val="FFFF00"/>
              </a:solidFill>
              <a:latin typeface="Constantia" panose="02030602050306030303"/>
            </a:endParaRPr>
          </a:p>
          <a:p>
            <a:pPr>
              <a:buNone/>
            </a:pPr>
            <a:r>
              <a:rPr lang="en-US" altLang="zh-CN" sz="2000" dirty="0" smtClean="0">
                <a:solidFill>
                  <a:srgbClr val="FFFF00"/>
                </a:solidFill>
              </a:rPr>
              <a:t>      </a:t>
            </a:r>
            <a:r>
              <a:rPr lang="en-US" altLang="zh-CN" sz="1100" dirty="0" smtClean="0">
                <a:solidFill>
                  <a:srgbClr val="FFFF00"/>
                </a:solidFill>
                <a:latin typeface="Constantia" panose="02030602050306030303"/>
              </a:rPr>
              <a:t>○ </a:t>
            </a:r>
            <a:r>
              <a:rPr lang="en-US" altLang="zh-CN" sz="2000" dirty="0" smtClean="0">
                <a:solidFill>
                  <a:srgbClr val="FFFF00"/>
                </a:solidFill>
                <a:latin typeface="Constantia" panose="02030602050306030303"/>
              </a:rPr>
              <a:t>Another idea is to isolate a particular operation fundamental to the algorithm and then count the number of times that this operation is performed.</a:t>
            </a:r>
            <a:endParaRPr lang="en-US" altLang="zh-CN" sz="2000" dirty="0" smtClean="0">
              <a:solidFill>
                <a:srgbClr val="FFFF00"/>
              </a:solidFill>
              <a:latin typeface="Constantia" panose="02030602050306030303"/>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chemeClr val="bg1">
                    <a:lumMod val="85000"/>
                  </a:schemeClr>
                </a:solidFill>
              </a:rPr>
              <a:t>Comparing Algorithms</a:t>
            </a:r>
            <a:endParaRPr lang="zh-CN" altLang="en-US" dirty="0">
              <a:solidFill>
                <a:schemeClr val="bg1">
                  <a:lumMod val="85000"/>
                </a:schemeClr>
              </a:solidFill>
            </a:endParaRPr>
          </a:p>
        </p:txBody>
      </p:sp>
      <p:sp>
        <p:nvSpPr>
          <p:cNvPr id="3" name="内容占位符 2"/>
          <p:cNvSpPr>
            <a:spLocks noGrp="1"/>
          </p:cNvSpPr>
          <p:nvPr>
            <p:ph idx="1"/>
          </p:nvPr>
        </p:nvSpPr>
        <p:spPr/>
        <p:txBody>
          <a:bodyPr/>
          <a:lstStyle/>
          <a:p>
            <a:r>
              <a:rPr lang="en-US" altLang="zh-CN" dirty="0" smtClean="0">
                <a:solidFill>
                  <a:srgbClr val="FFFF00"/>
                </a:solidFill>
              </a:rPr>
              <a:t>BIG-O Analysis</a:t>
            </a:r>
            <a:endParaRPr lang="en-US" altLang="zh-CN" dirty="0" smtClean="0">
              <a:solidFill>
                <a:srgbClr val="FFFF00"/>
              </a:solidFill>
            </a:endParaRPr>
          </a:p>
          <a:p>
            <a:pPr>
              <a:buNone/>
            </a:pPr>
            <a:r>
              <a:rPr lang="en-US" altLang="zh-CN" dirty="0" smtClean="0">
                <a:solidFill>
                  <a:srgbClr val="FFFF00"/>
                </a:solidFill>
              </a:rPr>
              <a:t>   </a:t>
            </a:r>
            <a:r>
              <a:rPr lang="en-US" altLang="zh-CN" sz="2000" dirty="0" smtClean="0">
                <a:solidFill>
                  <a:srgbClr val="FFFF00"/>
                </a:solidFill>
              </a:rPr>
              <a:t>We have been talking about works as a function of the size of the input to the operation (for instance , the number of elements in the list to be summed).</a:t>
            </a:r>
            <a:endParaRPr lang="en-US" altLang="zh-CN" sz="2000" dirty="0" smtClean="0">
              <a:solidFill>
                <a:srgbClr val="FFFF00"/>
              </a:solidFill>
            </a:endParaRPr>
          </a:p>
          <a:p>
            <a:pPr>
              <a:buNone/>
            </a:pPr>
            <a:r>
              <a:rPr lang="en-US" altLang="zh-CN" sz="2000" dirty="0" smtClean="0">
                <a:solidFill>
                  <a:srgbClr val="FFFF00"/>
                </a:solidFill>
              </a:rPr>
              <a:t>     E.G.        f(N)=N</a:t>
            </a:r>
            <a:r>
              <a:rPr lang="en-US" altLang="zh-CN" sz="2000" baseline="30000" dirty="0" smtClean="0">
                <a:solidFill>
                  <a:srgbClr val="FFFF00"/>
                </a:solidFill>
              </a:rPr>
              <a:t>4 </a:t>
            </a:r>
            <a:r>
              <a:rPr lang="en-US" altLang="zh-CN" sz="2000" dirty="0" smtClean="0">
                <a:solidFill>
                  <a:srgbClr val="FFFF00"/>
                </a:solidFill>
              </a:rPr>
              <a:t>+ 100N</a:t>
            </a:r>
            <a:r>
              <a:rPr lang="en-US" altLang="zh-CN" sz="2000" baseline="30000" dirty="0" smtClean="0">
                <a:solidFill>
                  <a:srgbClr val="FFFF00"/>
                </a:solidFill>
              </a:rPr>
              <a:t>2 </a:t>
            </a:r>
            <a:r>
              <a:rPr lang="en-US" altLang="zh-CN" sz="2000" dirty="0" smtClean="0">
                <a:solidFill>
                  <a:srgbClr val="FFFF00"/>
                </a:solidFill>
              </a:rPr>
              <a:t>+ 10N + 50</a:t>
            </a:r>
            <a:endParaRPr lang="zh-CN" altLang="en-US" dirty="0">
              <a:solidFill>
                <a:srgbClr val="FFFF00"/>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chemeClr val="bg1">
                    <a:lumMod val="85000"/>
                  </a:schemeClr>
                </a:solidFill>
              </a:rPr>
              <a:t>Comparing Algorithms</a:t>
            </a:r>
            <a:endParaRPr lang="zh-CN" altLang="en-US" dirty="0">
              <a:solidFill>
                <a:schemeClr val="bg1">
                  <a:lumMod val="85000"/>
                </a:schemeClr>
              </a:solidFill>
            </a:endParaRPr>
          </a:p>
        </p:txBody>
      </p:sp>
      <p:sp>
        <p:nvSpPr>
          <p:cNvPr id="3" name="内容占位符 2"/>
          <p:cNvSpPr>
            <a:spLocks noGrp="1"/>
          </p:cNvSpPr>
          <p:nvPr>
            <p:ph idx="1"/>
          </p:nvPr>
        </p:nvSpPr>
        <p:spPr/>
        <p:txBody>
          <a:bodyPr/>
          <a:lstStyle/>
          <a:p>
            <a:r>
              <a:rPr lang="en-US" altLang="zh-CN" dirty="0" smtClean="0">
                <a:solidFill>
                  <a:srgbClr val="FFFF00"/>
                </a:solidFill>
              </a:rPr>
              <a:t>Common Orders of Magnitude</a:t>
            </a:r>
            <a:endParaRPr lang="en-US" altLang="zh-CN" dirty="0" smtClean="0">
              <a:solidFill>
                <a:srgbClr val="FFFF00"/>
              </a:solidFill>
            </a:endParaRPr>
          </a:p>
          <a:p>
            <a:pPr>
              <a:buNone/>
            </a:pPr>
            <a:r>
              <a:rPr lang="en-US" altLang="zh-CN" sz="2000" dirty="0" smtClean="0">
                <a:solidFill>
                  <a:srgbClr val="FFFF00"/>
                </a:solidFill>
              </a:rPr>
              <a:t>    </a:t>
            </a:r>
            <a:r>
              <a:rPr lang="en-US" altLang="zh-CN" sz="2000" dirty="0" smtClean="0">
                <a:solidFill>
                  <a:srgbClr val="FFFF00"/>
                </a:solidFill>
                <a:latin typeface="Chiller" panose="04020404031007020602"/>
              </a:rPr>
              <a:t>A.</a:t>
            </a:r>
            <a:r>
              <a:rPr lang="en-US" altLang="zh-CN" sz="2000" dirty="0" smtClean="0">
                <a:solidFill>
                  <a:srgbClr val="FFFF00"/>
                </a:solidFill>
                <a:latin typeface="Arial Unicode MS" pitchFamily="34" charset="-122"/>
                <a:ea typeface="Arial Unicode MS" pitchFamily="34" charset="-122"/>
                <a:cs typeface="Arial Unicode MS" pitchFamily="34" charset="-122"/>
              </a:rPr>
              <a:t> O(1) is called bounded time.</a:t>
            </a:r>
            <a:endParaRPr lang="en-US" altLang="zh-CN" sz="2000" dirty="0" smtClean="0">
              <a:solidFill>
                <a:srgbClr val="FFFF00"/>
              </a:solidFill>
              <a:latin typeface="Chiller" panose="04020404031007020602"/>
            </a:endParaRPr>
          </a:p>
          <a:p>
            <a:pPr>
              <a:buNone/>
            </a:pPr>
            <a:r>
              <a:rPr lang="en-US" altLang="zh-CN" sz="2000" dirty="0" smtClean="0">
                <a:solidFill>
                  <a:srgbClr val="FFFF00"/>
                </a:solidFill>
                <a:latin typeface="Chiller" panose="04020404031007020602"/>
              </a:rPr>
              <a:t>    B. </a:t>
            </a:r>
            <a:r>
              <a:rPr lang="en-US" altLang="zh-CN" sz="2000" dirty="0" smtClean="0">
                <a:solidFill>
                  <a:srgbClr val="FFFF00"/>
                </a:solidFill>
                <a:latin typeface="Arial Unicode MS" pitchFamily="34" charset="-122"/>
                <a:ea typeface="Arial Unicode MS" pitchFamily="34" charset="-122"/>
                <a:cs typeface="Arial Unicode MS" pitchFamily="34" charset="-122"/>
              </a:rPr>
              <a:t>O(log</a:t>
            </a:r>
            <a:r>
              <a:rPr lang="en-US" altLang="zh-CN" sz="2000" baseline="-25000" dirty="0" smtClean="0">
                <a:solidFill>
                  <a:srgbClr val="FFFF00"/>
                </a:solidFill>
                <a:latin typeface="Arial Unicode MS" pitchFamily="34" charset="-122"/>
                <a:ea typeface="Arial Unicode MS" pitchFamily="34" charset="-122"/>
                <a:cs typeface="Arial Unicode MS" pitchFamily="34" charset="-122"/>
              </a:rPr>
              <a:t>2</a:t>
            </a:r>
            <a:r>
              <a:rPr lang="en-US" altLang="zh-CN" sz="2000" dirty="0" smtClean="0">
                <a:solidFill>
                  <a:srgbClr val="FFFF00"/>
                </a:solidFill>
                <a:latin typeface="Arial Unicode MS" pitchFamily="34" charset="-122"/>
                <a:ea typeface="Arial Unicode MS" pitchFamily="34" charset="-122"/>
                <a:cs typeface="Arial Unicode MS" pitchFamily="34" charset="-122"/>
              </a:rPr>
              <a:t>N) is called logarithmic time.</a:t>
            </a:r>
            <a:endParaRPr lang="en-US" altLang="zh-CN" sz="2000" dirty="0" smtClean="0">
              <a:solidFill>
                <a:srgbClr val="FFFF00"/>
              </a:solidFill>
              <a:latin typeface="Arial Unicode MS" pitchFamily="34" charset="-122"/>
              <a:ea typeface="Arial Unicode MS" pitchFamily="34" charset="-122"/>
              <a:cs typeface="Arial Unicode MS" pitchFamily="34" charset="-122"/>
            </a:endParaRPr>
          </a:p>
          <a:p>
            <a:pPr>
              <a:buNone/>
            </a:pPr>
            <a:r>
              <a:rPr lang="en-US" altLang="zh-CN" sz="2000" dirty="0" smtClean="0">
                <a:solidFill>
                  <a:srgbClr val="FFFF00"/>
                </a:solidFill>
                <a:latin typeface="Chiller" panose="04020404031007020602"/>
              </a:rPr>
              <a:t>    C. </a:t>
            </a:r>
            <a:r>
              <a:rPr lang="en-US" altLang="zh-CN" sz="2000" dirty="0" smtClean="0">
                <a:solidFill>
                  <a:srgbClr val="FFFF00"/>
                </a:solidFill>
                <a:latin typeface="Arial Unicode MS" pitchFamily="34" charset="-122"/>
                <a:ea typeface="Arial Unicode MS" pitchFamily="34" charset="-122"/>
                <a:cs typeface="Arial Unicode MS" pitchFamily="34" charset="-122"/>
              </a:rPr>
              <a:t>O(N) is called linear time.</a:t>
            </a:r>
            <a:endParaRPr lang="en-US" altLang="zh-CN" sz="2000" dirty="0" smtClean="0">
              <a:solidFill>
                <a:srgbClr val="FFFF00"/>
              </a:solidFill>
              <a:latin typeface="Arial Unicode MS" pitchFamily="34" charset="-122"/>
              <a:ea typeface="Arial Unicode MS" pitchFamily="34" charset="-122"/>
              <a:cs typeface="Arial Unicode MS" pitchFamily="34" charset="-122"/>
            </a:endParaRPr>
          </a:p>
          <a:p>
            <a:pPr>
              <a:buNone/>
            </a:pPr>
            <a:r>
              <a:rPr lang="en-US" altLang="zh-CN" sz="2000" dirty="0" smtClean="0">
                <a:solidFill>
                  <a:srgbClr val="FFFF00"/>
                </a:solidFill>
                <a:latin typeface="Chiller" panose="04020404031007020602"/>
              </a:rPr>
              <a:t>    D. </a:t>
            </a:r>
            <a:r>
              <a:rPr lang="en-US" altLang="zh-CN" sz="2000" dirty="0" smtClean="0">
                <a:solidFill>
                  <a:srgbClr val="FFFF00"/>
                </a:solidFill>
                <a:latin typeface="Arial Unicode MS" pitchFamily="34" charset="-122"/>
                <a:ea typeface="Arial Unicode MS" pitchFamily="34" charset="-122"/>
                <a:cs typeface="Arial Unicode MS" pitchFamily="34" charset="-122"/>
              </a:rPr>
              <a:t>O(Nlog</a:t>
            </a:r>
            <a:r>
              <a:rPr lang="en-US" altLang="zh-CN" sz="2000" baseline="-25000" dirty="0" smtClean="0">
                <a:solidFill>
                  <a:srgbClr val="FFFF00"/>
                </a:solidFill>
                <a:latin typeface="Arial Unicode MS" pitchFamily="34" charset="-122"/>
                <a:ea typeface="Arial Unicode MS" pitchFamily="34" charset="-122"/>
                <a:cs typeface="Arial Unicode MS" pitchFamily="34" charset="-122"/>
              </a:rPr>
              <a:t>2</a:t>
            </a:r>
            <a:r>
              <a:rPr lang="en-US" altLang="zh-CN" sz="2000" dirty="0" smtClean="0">
                <a:solidFill>
                  <a:srgbClr val="FFFF00"/>
                </a:solidFill>
                <a:latin typeface="Arial Unicode MS" pitchFamily="34" charset="-122"/>
                <a:ea typeface="Arial Unicode MS" pitchFamily="34" charset="-122"/>
                <a:cs typeface="Arial Unicode MS" pitchFamily="34" charset="-122"/>
              </a:rPr>
              <a:t>N) is called (for lack of a better term) Nlog</a:t>
            </a:r>
            <a:r>
              <a:rPr lang="en-US" altLang="zh-CN" sz="2000" baseline="-25000" dirty="0" smtClean="0">
                <a:solidFill>
                  <a:srgbClr val="FFFF00"/>
                </a:solidFill>
                <a:latin typeface="Arial Unicode MS" pitchFamily="34" charset="-122"/>
                <a:ea typeface="Arial Unicode MS" pitchFamily="34" charset="-122"/>
                <a:cs typeface="Arial Unicode MS" pitchFamily="34" charset="-122"/>
              </a:rPr>
              <a:t>2</a:t>
            </a:r>
            <a:r>
              <a:rPr lang="en-US" altLang="zh-CN" sz="2000" dirty="0" smtClean="0">
                <a:solidFill>
                  <a:srgbClr val="FFFF00"/>
                </a:solidFill>
                <a:latin typeface="Arial Unicode MS" pitchFamily="34" charset="-122"/>
                <a:ea typeface="Arial Unicode MS" pitchFamily="34" charset="-122"/>
                <a:cs typeface="Arial Unicode MS" pitchFamily="34" charset="-122"/>
              </a:rPr>
              <a:t>N time.</a:t>
            </a:r>
            <a:endParaRPr lang="en-US" altLang="zh-CN" sz="2000" dirty="0" smtClean="0">
              <a:solidFill>
                <a:srgbClr val="FFFF00"/>
              </a:solidFill>
              <a:latin typeface="Arial Unicode MS" pitchFamily="34" charset="-122"/>
              <a:ea typeface="Arial Unicode MS" pitchFamily="34" charset="-122"/>
              <a:cs typeface="Arial Unicode MS" pitchFamily="34" charset="-122"/>
            </a:endParaRPr>
          </a:p>
          <a:p>
            <a:pPr>
              <a:buNone/>
            </a:pPr>
            <a:r>
              <a:rPr lang="en-US" altLang="zh-CN" sz="2000" dirty="0" smtClean="0">
                <a:solidFill>
                  <a:srgbClr val="FFFF00"/>
                </a:solidFill>
                <a:latin typeface="Chiller" panose="04020404031007020602"/>
              </a:rPr>
              <a:t>    E. </a:t>
            </a:r>
            <a:r>
              <a:rPr lang="en-US" altLang="zh-CN" sz="2000" dirty="0" smtClean="0">
                <a:solidFill>
                  <a:srgbClr val="FFFF00"/>
                </a:solidFill>
                <a:latin typeface="Arial Unicode MS" pitchFamily="34" charset="-122"/>
                <a:ea typeface="Arial Unicode MS" pitchFamily="34" charset="-122"/>
                <a:cs typeface="Arial Unicode MS" pitchFamily="34" charset="-122"/>
              </a:rPr>
              <a:t>O(N</a:t>
            </a:r>
            <a:r>
              <a:rPr lang="en-US" altLang="zh-CN" sz="2000" baseline="30000" dirty="0" smtClean="0">
                <a:solidFill>
                  <a:srgbClr val="FFFF00"/>
                </a:solidFill>
                <a:latin typeface="Arial Unicode MS" pitchFamily="34" charset="-122"/>
                <a:ea typeface="Arial Unicode MS" pitchFamily="34" charset="-122"/>
                <a:cs typeface="Arial Unicode MS" pitchFamily="34" charset="-122"/>
              </a:rPr>
              <a:t>2</a:t>
            </a:r>
            <a:r>
              <a:rPr lang="en-US" altLang="zh-CN" sz="2000" dirty="0" smtClean="0">
                <a:solidFill>
                  <a:srgbClr val="FFFF00"/>
                </a:solidFill>
                <a:latin typeface="Arial Unicode MS" pitchFamily="34" charset="-122"/>
                <a:ea typeface="Arial Unicode MS" pitchFamily="34" charset="-122"/>
                <a:cs typeface="Arial Unicode MS" pitchFamily="34" charset="-122"/>
              </a:rPr>
              <a:t>) is called quadratic time.</a:t>
            </a:r>
            <a:endParaRPr lang="en-US" altLang="zh-CN" sz="2000" dirty="0" smtClean="0">
              <a:solidFill>
                <a:srgbClr val="FFFF00"/>
              </a:solidFill>
              <a:latin typeface="Arial Unicode MS" pitchFamily="34" charset="-122"/>
              <a:ea typeface="Arial Unicode MS" pitchFamily="34" charset="-122"/>
              <a:cs typeface="Arial Unicode MS" pitchFamily="34" charset="-122"/>
            </a:endParaRPr>
          </a:p>
          <a:p>
            <a:pPr>
              <a:buNone/>
            </a:pPr>
            <a:r>
              <a:rPr lang="en-US" altLang="zh-CN" sz="2000" dirty="0" smtClean="0">
                <a:solidFill>
                  <a:srgbClr val="FFFF00"/>
                </a:solidFill>
                <a:latin typeface="Chiller" panose="04020404031007020602"/>
              </a:rPr>
              <a:t>    F. </a:t>
            </a:r>
            <a:r>
              <a:rPr lang="en-US" altLang="zh-CN" sz="2000" dirty="0" smtClean="0">
                <a:solidFill>
                  <a:srgbClr val="FFFF00"/>
                </a:solidFill>
                <a:latin typeface="Arial Unicode MS" pitchFamily="34" charset="-122"/>
                <a:ea typeface="Arial Unicode MS" pitchFamily="34" charset="-122"/>
                <a:cs typeface="Arial Unicode MS" pitchFamily="34" charset="-122"/>
              </a:rPr>
              <a:t>O(2</a:t>
            </a:r>
            <a:r>
              <a:rPr lang="en-US" altLang="zh-CN" sz="2000" baseline="30000" dirty="0" smtClean="0">
                <a:solidFill>
                  <a:srgbClr val="FFFF00"/>
                </a:solidFill>
                <a:latin typeface="Arial Unicode MS" pitchFamily="34" charset="-122"/>
                <a:ea typeface="Arial Unicode MS" pitchFamily="34" charset="-122"/>
                <a:cs typeface="Arial Unicode MS" pitchFamily="34" charset="-122"/>
              </a:rPr>
              <a:t>N</a:t>
            </a:r>
            <a:r>
              <a:rPr lang="en-US" altLang="zh-CN" sz="2000" dirty="0" smtClean="0">
                <a:solidFill>
                  <a:srgbClr val="FFFF00"/>
                </a:solidFill>
                <a:latin typeface="Arial Unicode MS" pitchFamily="34" charset="-122"/>
                <a:ea typeface="Arial Unicode MS" pitchFamily="34" charset="-122"/>
                <a:cs typeface="Arial Unicode MS" pitchFamily="34" charset="-122"/>
              </a:rPr>
              <a:t>) is called exponential time.</a:t>
            </a:r>
            <a:endParaRPr lang="en-US" altLang="zh-CN" sz="2000" dirty="0" smtClean="0">
              <a:solidFill>
                <a:srgbClr val="FFFF00"/>
              </a:solidFill>
              <a:latin typeface="Arial Unicode MS" pitchFamily="34" charset="-122"/>
              <a:ea typeface="Arial Unicode MS" pitchFamily="34" charset="-122"/>
              <a:cs typeface="Arial Unicode MS" pitchFamily="34" charset="-122"/>
            </a:endParaRPr>
          </a:p>
          <a:p>
            <a:pPr>
              <a:buNone/>
            </a:pPr>
            <a:r>
              <a:rPr lang="en-US" altLang="zh-CN" sz="2000" dirty="0" smtClean="0">
                <a:solidFill>
                  <a:srgbClr val="FFFF00"/>
                </a:solidFill>
                <a:latin typeface="Chiller" panose="04020404031007020602"/>
              </a:rPr>
              <a:t>    G. </a:t>
            </a:r>
            <a:r>
              <a:rPr lang="en-US" altLang="zh-CN" sz="2000" dirty="0" smtClean="0">
                <a:solidFill>
                  <a:srgbClr val="FFFF00"/>
                </a:solidFill>
                <a:latin typeface="Arial Unicode MS" pitchFamily="34" charset="-122"/>
                <a:ea typeface="Arial Unicode MS" pitchFamily="34" charset="-122"/>
                <a:cs typeface="Arial Unicode MS" pitchFamily="34" charset="-122"/>
              </a:rPr>
              <a:t>O(N!) is called factorial time.</a:t>
            </a:r>
            <a:endParaRPr lang="zh-CN" altLang="en-US" sz="2000" dirty="0" smtClean="0">
              <a:solidFill>
                <a:srgbClr val="FFFF00"/>
              </a:solidFill>
              <a:latin typeface="Arial Unicode MS" pitchFamily="34" charset="-122"/>
              <a:ea typeface="Arial Unicode MS" pitchFamily="34" charset="-122"/>
              <a:cs typeface="Arial Unicode MS" pitchFamily="34"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chemeClr val="bg1">
                    <a:lumMod val="85000"/>
                  </a:schemeClr>
                </a:solidFill>
              </a:rPr>
              <a:t>Comparing Algorithms</a:t>
            </a:r>
            <a:endParaRPr lang="zh-CN" altLang="en-US" dirty="0">
              <a:solidFill>
                <a:schemeClr val="bg1">
                  <a:lumMod val="85000"/>
                </a:schemeClr>
              </a:solidFill>
            </a:endParaRPr>
          </a:p>
        </p:txBody>
      </p:sp>
      <p:sp>
        <p:nvSpPr>
          <p:cNvPr id="6" name="TextBox 5"/>
          <p:cNvSpPr txBox="1"/>
          <p:nvPr/>
        </p:nvSpPr>
        <p:spPr>
          <a:xfrm>
            <a:off x="2071670" y="5857892"/>
            <a:ext cx="5572164" cy="369332"/>
          </a:xfrm>
          <a:prstGeom prst="rect">
            <a:avLst/>
          </a:prstGeom>
          <a:noFill/>
        </p:spPr>
        <p:txBody>
          <a:bodyPr wrap="square" rtlCol="0">
            <a:spAutoFit/>
          </a:bodyPr>
          <a:lstStyle/>
          <a:p>
            <a:r>
              <a:rPr lang="en-US" altLang="zh-CN" dirty="0" smtClean="0">
                <a:solidFill>
                  <a:srgbClr val="FFFF00"/>
                </a:solidFill>
              </a:rPr>
              <a:t>TABLE : Comparison of rates of growth</a:t>
            </a:r>
            <a:endParaRPr lang="zh-CN" altLang="en-US" dirty="0">
              <a:solidFill>
                <a:srgbClr val="FFFF00"/>
              </a:solidFill>
            </a:endParaRPr>
          </a:p>
        </p:txBody>
      </p:sp>
      <p:graphicFrame>
        <p:nvGraphicFramePr>
          <p:cNvPr id="8" name="内容占位符 3"/>
          <p:cNvGraphicFramePr/>
          <p:nvPr/>
        </p:nvGraphicFramePr>
        <p:xfrm>
          <a:off x="1214414" y="2071678"/>
          <a:ext cx="6760448" cy="3714779"/>
        </p:xfrm>
        <a:graphic>
          <a:graphicData uri="http://schemas.openxmlformats.org/drawingml/2006/table">
            <a:tbl>
              <a:tblPr firstRow="1" bandRow="1">
                <a:tableStyleId>{16D9F66E-5EB9-4882-86FB-DCBF35E3C3E4}</a:tableStyleId>
              </a:tblPr>
              <a:tblGrid>
                <a:gridCol w="621551"/>
                <a:gridCol w="586105"/>
                <a:gridCol w="766850"/>
                <a:gridCol w="683706"/>
                <a:gridCol w="870171"/>
                <a:gridCol w="3232065"/>
              </a:tblGrid>
              <a:tr h="311504">
                <a:tc>
                  <a:txBody>
                    <a:bodyPr/>
                    <a:lstStyle/>
                    <a:p>
                      <a:pPr algn="ctr"/>
                      <a:r>
                        <a:rPr lang="en-US" altLang="zh-CN" sz="1200" dirty="0" smtClean="0"/>
                        <a:t>N</a:t>
                      </a:r>
                      <a:endParaRPr lang="zh-CN" altLang="en-US" sz="1200" dirty="0"/>
                    </a:p>
                  </a:txBody>
                  <a:tcPr/>
                </a:tc>
                <a:tc>
                  <a:txBody>
                    <a:bodyPr/>
                    <a:lstStyle/>
                    <a:p>
                      <a:pPr algn="ctr"/>
                      <a:r>
                        <a:rPr lang="en-US" altLang="zh-CN" sz="1200" dirty="0" smtClean="0"/>
                        <a:t>log</a:t>
                      </a:r>
                      <a:r>
                        <a:rPr lang="en-US" altLang="zh-CN" sz="1200" baseline="-25000" dirty="0" smtClean="0"/>
                        <a:t>2</a:t>
                      </a:r>
                      <a:r>
                        <a:rPr lang="en-US" altLang="zh-CN" sz="1200" dirty="0" smtClean="0"/>
                        <a:t>N</a:t>
                      </a:r>
                      <a:endParaRPr lang="zh-CN" altLang="en-US" sz="1200" dirty="0"/>
                    </a:p>
                  </a:txBody>
                  <a:tcPr/>
                </a:tc>
                <a:tc>
                  <a:txBody>
                    <a:bodyPr/>
                    <a:lstStyle/>
                    <a:p>
                      <a:pPr algn="ctr"/>
                      <a:r>
                        <a:rPr lang="en-US" altLang="zh-CN" sz="1200" dirty="0" smtClean="0"/>
                        <a:t>Nlog</a:t>
                      </a:r>
                      <a:r>
                        <a:rPr lang="en-US" altLang="zh-CN" sz="1200" baseline="-25000" dirty="0" smtClean="0"/>
                        <a:t>2</a:t>
                      </a:r>
                      <a:r>
                        <a:rPr lang="en-US" altLang="zh-CN" sz="1200" dirty="0" smtClean="0"/>
                        <a:t>N</a:t>
                      </a:r>
                      <a:endParaRPr lang="zh-CN" altLang="en-US" sz="1200" dirty="0"/>
                    </a:p>
                  </a:txBody>
                  <a:tcPr/>
                </a:tc>
                <a:tc>
                  <a:txBody>
                    <a:bodyPr/>
                    <a:lstStyle/>
                    <a:p>
                      <a:pPr algn="ctr"/>
                      <a:r>
                        <a:rPr lang="en-US" altLang="zh-CN" sz="1200" dirty="0" smtClean="0"/>
                        <a:t>N</a:t>
                      </a:r>
                      <a:r>
                        <a:rPr lang="en-US" altLang="zh-CN" sz="1200" baseline="30000" dirty="0" smtClean="0"/>
                        <a:t>2</a:t>
                      </a:r>
                      <a:endParaRPr lang="zh-CN" altLang="en-US" sz="1200" baseline="30000" dirty="0"/>
                    </a:p>
                  </a:txBody>
                  <a:tcPr/>
                </a:tc>
                <a:tc>
                  <a:txBody>
                    <a:bodyPr/>
                    <a:lstStyle/>
                    <a:p>
                      <a:pPr algn="ctr"/>
                      <a:r>
                        <a:rPr lang="en-US" altLang="zh-CN" sz="1200" dirty="0" smtClean="0"/>
                        <a:t>N</a:t>
                      </a:r>
                      <a:r>
                        <a:rPr lang="en-US" altLang="zh-CN" sz="1200" baseline="30000" dirty="0" smtClean="0"/>
                        <a:t>3</a:t>
                      </a:r>
                      <a:endParaRPr lang="zh-CN" altLang="en-US" sz="1200" baseline="30000" dirty="0"/>
                    </a:p>
                  </a:txBody>
                  <a:tcPr/>
                </a:tc>
                <a:tc>
                  <a:txBody>
                    <a:bodyPr/>
                    <a:lstStyle/>
                    <a:p>
                      <a:pPr algn="ctr"/>
                      <a:r>
                        <a:rPr lang="en-US" altLang="zh-CN" sz="1200" dirty="0" smtClean="0"/>
                        <a:t>2</a:t>
                      </a:r>
                      <a:r>
                        <a:rPr lang="en-US" altLang="zh-CN" sz="1200" baseline="30000" dirty="0" smtClean="0"/>
                        <a:t>N</a:t>
                      </a:r>
                      <a:endParaRPr lang="zh-CN" altLang="en-US" sz="1200" baseline="30000" dirty="0"/>
                    </a:p>
                  </a:txBody>
                  <a:tcPr/>
                </a:tc>
              </a:tr>
              <a:tr h="311504">
                <a:tc>
                  <a:txBody>
                    <a:bodyPr/>
                    <a:lstStyle/>
                    <a:p>
                      <a:r>
                        <a:rPr lang="en-US" altLang="zh-CN" sz="1200" dirty="0" smtClean="0"/>
                        <a:t>1</a:t>
                      </a:r>
                      <a:endParaRPr lang="zh-CN" altLang="en-US" sz="1200" dirty="0"/>
                    </a:p>
                  </a:txBody>
                  <a:tcPr/>
                </a:tc>
                <a:tc>
                  <a:txBody>
                    <a:bodyPr/>
                    <a:lstStyle/>
                    <a:p>
                      <a:r>
                        <a:rPr lang="en-US" altLang="zh-CN" sz="1200" dirty="0" smtClean="0"/>
                        <a:t>0</a:t>
                      </a:r>
                      <a:endParaRPr lang="zh-CN" altLang="en-US" sz="1200" dirty="0"/>
                    </a:p>
                  </a:txBody>
                  <a:tcPr/>
                </a:tc>
                <a:tc>
                  <a:txBody>
                    <a:bodyPr/>
                    <a:lstStyle/>
                    <a:p>
                      <a:r>
                        <a:rPr lang="en-US" altLang="zh-CN" sz="1200" dirty="0" smtClean="0"/>
                        <a:t>1</a:t>
                      </a:r>
                      <a:endParaRPr lang="zh-CN" altLang="en-US" sz="1200" dirty="0"/>
                    </a:p>
                  </a:txBody>
                  <a:tcPr/>
                </a:tc>
                <a:tc>
                  <a:txBody>
                    <a:bodyPr/>
                    <a:lstStyle/>
                    <a:p>
                      <a:r>
                        <a:rPr lang="en-US" altLang="zh-CN" sz="1200" dirty="0" smtClean="0"/>
                        <a:t>1</a:t>
                      </a:r>
                      <a:endParaRPr lang="zh-CN" altLang="en-US" sz="1200" dirty="0"/>
                    </a:p>
                  </a:txBody>
                  <a:tcPr/>
                </a:tc>
                <a:tc>
                  <a:txBody>
                    <a:bodyPr/>
                    <a:lstStyle/>
                    <a:p>
                      <a:r>
                        <a:rPr lang="en-US" altLang="zh-CN" sz="1200" dirty="0" smtClean="0"/>
                        <a:t>1</a:t>
                      </a:r>
                      <a:endParaRPr lang="zh-CN" altLang="en-US" sz="1200" dirty="0"/>
                    </a:p>
                  </a:txBody>
                  <a:tcPr/>
                </a:tc>
                <a:tc>
                  <a:txBody>
                    <a:bodyPr/>
                    <a:lstStyle/>
                    <a:p>
                      <a:r>
                        <a:rPr lang="en-US" altLang="zh-CN" sz="1200" dirty="0" smtClean="0"/>
                        <a:t>2</a:t>
                      </a:r>
                      <a:endParaRPr lang="zh-CN" altLang="en-US" sz="1200" dirty="0"/>
                    </a:p>
                  </a:txBody>
                  <a:tcPr/>
                </a:tc>
              </a:tr>
              <a:tr h="311504">
                <a:tc>
                  <a:txBody>
                    <a:bodyPr/>
                    <a:lstStyle/>
                    <a:p>
                      <a:r>
                        <a:rPr lang="en-US" altLang="zh-CN" sz="1200" dirty="0" smtClean="0"/>
                        <a:t>2</a:t>
                      </a:r>
                      <a:endParaRPr lang="zh-CN" altLang="en-US" sz="1200" dirty="0"/>
                    </a:p>
                  </a:txBody>
                  <a:tcPr/>
                </a:tc>
                <a:tc>
                  <a:txBody>
                    <a:bodyPr/>
                    <a:lstStyle/>
                    <a:p>
                      <a:r>
                        <a:rPr lang="en-US" altLang="zh-CN" sz="1200" dirty="0" smtClean="0"/>
                        <a:t>1</a:t>
                      </a:r>
                      <a:endParaRPr lang="zh-CN" altLang="en-US" sz="1200" dirty="0"/>
                    </a:p>
                  </a:txBody>
                  <a:tcPr/>
                </a:tc>
                <a:tc>
                  <a:txBody>
                    <a:bodyPr/>
                    <a:lstStyle/>
                    <a:p>
                      <a:r>
                        <a:rPr lang="en-US" altLang="zh-CN" sz="1200" dirty="0" smtClean="0"/>
                        <a:t>2</a:t>
                      </a:r>
                      <a:endParaRPr lang="zh-CN" altLang="en-US" sz="1200" dirty="0"/>
                    </a:p>
                  </a:txBody>
                  <a:tcPr/>
                </a:tc>
                <a:tc>
                  <a:txBody>
                    <a:bodyPr/>
                    <a:lstStyle/>
                    <a:p>
                      <a:r>
                        <a:rPr lang="en-US" altLang="zh-CN" sz="1200" dirty="0" smtClean="0"/>
                        <a:t>4</a:t>
                      </a:r>
                      <a:endParaRPr lang="zh-CN" altLang="en-US" sz="1200" dirty="0"/>
                    </a:p>
                  </a:txBody>
                  <a:tcPr/>
                </a:tc>
                <a:tc>
                  <a:txBody>
                    <a:bodyPr/>
                    <a:lstStyle/>
                    <a:p>
                      <a:r>
                        <a:rPr lang="en-US" altLang="zh-CN" sz="1200" dirty="0" smtClean="0"/>
                        <a:t>8</a:t>
                      </a:r>
                      <a:endParaRPr lang="zh-CN" altLang="en-US" sz="1200" dirty="0"/>
                    </a:p>
                  </a:txBody>
                  <a:tcPr/>
                </a:tc>
                <a:tc>
                  <a:txBody>
                    <a:bodyPr/>
                    <a:lstStyle/>
                    <a:p>
                      <a:r>
                        <a:rPr lang="en-US" altLang="zh-CN" sz="1200" dirty="0" smtClean="0"/>
                        <a:t>4</a:t>
                      </a:r>
                      <a:endParaRPr lang="zh-CN" altLang="en-US" sz="1200" dirty="0"/>
                    </a:p>
                  </a:txBody>
                  <a:tcPr/>
                </a:tc>
              </a:tr>
              <a:tr h="311504">
                <a:tc>
                  <a:txBody>
                    <a:bodyPr/>
                    <a:lstStyle/>
                    <a:p>
                      <a:r>
                        <a:rPr lang="en-US" altLang="zh-CN" sz="1200" dirty="0" smtClean="0"/>
                        <a:t>4</a:t>
                      </a:r>
                      <a:endParaRPr lang="zh-CN" altLang="en-US" sz="1200" dirty="0"/>
                    </a:p>
                  </a:txBody>
                  <a:tcPr/>
                </a:tc>
                <a:tc>
                  <a:txBody>
                    <a:bodyPr/>
                    <a:lstStyle/>
                    <a:p>
                      <a:r>
                        <a:rPr lang="en-US" altLang="zh-CN" sz="1200" dirty="0" smtClean="0"/>
                        <a:t>2</a:t>
                      </a:r>
                      <a:endParaRPr lang="zh-CN" altLang="en-US" sz="1200" dirty="0"/>
                    </a:p>
                  </a:txBody>
                  <a:tcPr/>
                </a:tc>
                <a:tc>
                  <a:txBody>
                    <a:bodyPr/>
                    <a:lstStyle/>
                    <a:p>
                      <a:r>
                        <a:rPr lang="en-US" altLang="zh-CN" sz="1200" dirty="0" smtClean="0"/>
                        <a:t>8</a:t>
                      </a:r>
                      <a:endParaRPr lang="zh-CN" altLang="en-US" sz="1200" dirty="0"/>
                    </a:p>
                  </a:txBody>
                  <a:tcPr/>
                </a:tc>
                <a:tc>
                  <a:txBody>
                    <a:bodyPr/>
                    <a:lstStyle/>
                    <a:p>
                      <a:r>
                        <a:rPr lang="en-US" altLang="zh-CN" sz="1200" dirty="0" smtClean="0"/>
                        <a:t>16</a:t>
                      </a:r>
                      <a:endParaRPr lang="zh-CN" altLang="en-US" sz="1200" dirty="0"/>
                    </a:p>
                  </a:txBody>
                  <a:tcPr/>
                </a:tc>
                <a:tc>
                  <a:txBody>
                    <a:bodyPr/>
                    <a:lstStyle/>
                    <a:p>
                      <a:r>
                        <a:rPr lang="en-US" altLang="zh-CN" sz="1200" dirty="0" smtClean="0"/>
                        <a:t>64</a:t>
                      </a:r>
                      <a:endParaRPr lang="zh-CN" altLang="en-US" sz="1200" dirty="0"/>
                    </a:p>
                  </a:txBody>
                  <a:tcPr/>
                </a:tc>
                <a:tc>
                  <a:txBody>
                    <a:bodyPr/>
                    <a:lstStyle/>
                    <a:p>
                      <a:r>
                        <a:rPr lang="en-US" altLang="zh-CN" sz="1200" dirty="0" smtClean="0"/>
                        <a:t>16</a:t>
                      </a:r>
                      <a:endParaRPr lang="zh-CN" altLang="en-US" sz="1200" dirty="0"/>
                    </a:p>
                  </a:txBody>
                  <a:tcPr/>
                </a:tc>
              </a:tr>
              <a:tr h="311504">
                <a:tc>
                  <a:txBody>
                    <a:bodyPr/>
                    <a:lstStyle/>
                    <a:p>
                      <a:r>
                        <a:rPr lang="en-US" altLang="zh-CN" sz="1200" dirty="0" smtClean="0"/>
                        <a:t>8</a:t>
                      </a:r>
                      <a:endParaRPr lang="zh-CN" altLang="en-US" sz="1200" dirty="0"/>
                    </a:p>
                  </a:txBody>
                  <a:tcPr/>
                </a:tc>
                <a:tc>
                  <a:txBody>
                    <a:bodyPr/>
                    <a:lstStyle/>
                    <a:p>
                      <a:r>
                        <a:rPr lang="en-US" altLang="zh-CN" sz="1200" dirty="0" smtClean="0"/>
                        <a:t>3</a:t>
                      </a:r>
                      <a:endParaRPr lang="zh-CN" altLang="en-US" sz="1200" dirty="0"/>
                    </a:p>
                  </a:txBody>
                  <a:tcPr/>
                </a:tc>
                <a:tc>
                  <a:txBody>
                    <a:bodyPr/>
                    <a:lstStyle/>
                    <a:p>
                      <a:r>
                        <a:rPr lang="en-US" altLang="zh-CN" sz="1200" dirty="0" smtClean="0"/>
                        <a:t>24</a:t>
                      </a:r>
                      <a:endParaRPr lang="zh-CN" altLang="en-US" sz="1200" dirty="0"/>
                    </a:p>
                  </a:txBody>
                  <a:tcPr/>
                </a:tc>
                <a:tc>
                  <a:txBody>
                    <a:bodyPr/>
                    <a:lstStyle/>
                    <a:p>
                      <a:r>
                        <a:rPr lang="en-US" altLang="zh-CN" sz="1200" dirty="0" smtClean="0"/>
                        <a:t>64</a:t>
                      </a:r>
                      <a:endParaRPr lang="zh-CN" altLang="en-US" sz="1200" dirty="0"/>
                    </a:p>
                  </a:txBody>
                  <a:tcPr/>
                </a:tc>
                <a:tc>
                  <a:txBody>
                    <a:bodyPr/>
                    <a:lstStyle/>
                    <a:p>
                      <a:r>
                        <a:rPr lang="en-US" altLang="zh-CN" sz="1200" dirty="0" smtClean="0"/>
                        <a:t>512</a:t>
                      </a:r>
                      <a:endParaRPr lang="zh-CN" altLang="en-US" sz="1200" dirty="0"/>
                    </a:p>
                  </a:txBody>
                  <a:tcPr/>
                </a:tc>
                <a:tc>
                  <a:txBody>
                    <a:bodyPr/>
                    <a:lstStyle/>
                    <a:p>
                      <a:r>
                        <a:rPr lang="en-US" altLang="zh-CN" sz="1200" dirty="0" smtClean="0"/>
                        <a:t>256</a:t>
                      </a:r>
                      <a:endParaRPr lang="zh-CN" altLang="en-US" sz="1200" dirty="0"/>
                    </a:p>
                  </a:txBody>
                  <a:tcPr/>
                </a:tc>
              </a:tr>
              <a:tr h="311504">
                <a:tc>
                  <a:txBody>
                    <a:bodyPr/>
                    <a:lstStyle/>
                    <a:p>
                      <a:r>
                        <a:rPr lang="en-US" altLang="zh-CN" sz="1200" dirty="0" smtClean="0"/>
                        <a:t>16</a:t>
                      </a:r>
                      <a:endParaRPr lang="zh-CN" altLang="en-US" sz="1200" dirty="0"/>
                    </a:p>
                  </a:txBody>
                  <a:tcPr/>
                </a:tc>
                <a:tc>
                  <a:txBody>
                    <a:bodyPr/>
                    <a:lstStyle/>
                    <a:p>
                      <a:r>
                        <a:rPr lang="en-US" altLang="zh-CN" sz="1200" dirty="0" smtClean="0"/>
                        <a:t>4</a:t>
                      </a:r>
                      <a:endParaRPr lang="zh-CN" altLang="en-US" sz="1200" dirty="0"/>
                    </a:p>
                  </a:txBody>
                  <a:tcPr/>
                </a:tc>
                <a:tc>
                  <a:txBody>
                    <a:bodyPr/>
                    <a:lstStyle/>
                    <a:p>
                      <a:r>
                        <a:rPr lang="en-US" altLang="zh-CN" sz="1200" dirty="0" smtClean="0"/>
                        <a:t>64</a:t>
                      </a:r>
                      <a:endParaRPr lang="zh-CN" altLang="en-US" sz="1200" dirty="0"/>
                    </a:p>
                  </a:txBody>
                  <a:tcPr/>
                </a:tc>
                <a:tc>
                  <a:txBody>
                    <a:bodyPr/>
                    <a:lstStyle/>
                    <a:p>
                      <a:r>
                        <a:rPr lang="en-US" altLang="zh-CN" sz="1200" dirty="0" smtClean="0"/>
                        <a:t>256</a:t>
                      </a:r>
                      <a:endParaRPr lang="zh-CN" altLang="en-US" sz="1200" dirty="0"/>
                    </a:p>
                  </a:txBody>
                  <a:tcPr/>
                </a:tc>
                <a:tc>
                  <a:txBody>
                    <a:bodyPr/>
                    <a:lstStyle/>
                    <a:p>
                      <a:r>
                        <a:rPr lang="en-US" altLang="zh-CN" sz="1200" dirty="0" smtClean="0"/>
                        <a:t>4096</a:t>
                      </a:r>
                      <a:endParaRPr lang="zh-CN" altLang="en-US" sz="1200" dirty="0"/>
                    </a:p>
                  </a:txBody>
                  <a:tcPr/>
                </a:tc>
                <a:tc>
                  <a:txBody>
                    <a:bodyPr/>
                    <a:lstStyle/>
                    <a:p>
                      <a:r>
                        <a:rPr lang="en-US" altLang="zh-CN" sz="1200" dirty="0" smtClean="0"/>
                        <a:t>65536</a:t>
                      </a:r>
                      <a:endParaRPr lang="zh-CN" altLang="en-US" sz="1200" dirty="0"/>
                    </a:p>
                  </a:txBody>
                  <a:tcPr/>
                </a:tc>
              </a:tr>
              <a:tr h="311504">
                <a:tc>
                  <a:txBody>
                    <a:bodyPr/>
                    <a:lstStyle/>
                    <a:p>
                      <a:r>
                        <a:rPr lang="en-US" altLang="zh-CN" sz="1200" dirty="0" smtClean="0"/>
                        <a:t>32</a:t>
                      </a:r>
                      <a:endParaRPr lang="zh-CN" altLang="en-US" sz="1200" dirty="0"/>
                    </a:p>
                  </a:txBody>
                  <a:tcPr/>
                </a:tc>
                <a:tc>
                  <a:txBody>
                    <a:bodyPr/>
                    <a:lstStyle/>
                    <a:p>
                      <a:r>
                        <a:rPr lang="en-US" altLang="zh-CN" sz="1200" dirty="0" smtClean="0"/>
                        <a:t>5</a:t>
                      </a:r>
                      <a:endParaRPr lang="zh-CN" altLang="en-US" sz="1200" dirty="0"/>
                    </a:p>
                  </a:txBody>
                  <a:tcPr/>
                </a:tc>
                <a:tc>
                  <a:txBody>
                    <a:bodyPr/>
                    <a:lstStyle/>
                    <a:p>
                      <a:r>
                        <a:rPr lang="en-US" altLang="zh-CN" sz="1200" dirty="0" smtClean="0"/>
                        <a:t>160</a:t>
                      </a:r>
                      <a:endParaRPr lang="zh-CN" altLang="en-US" sz="1200" dirty="0"/>
                    </a:p>
                  </a:txBody>
                  <a:tcPr/>
                </a:tc>
                <a:tc>
                  <a:txBody>
                    <a:bodyPr/>
                    <a:lstStyle/>
                    <a:p>
                      <a:r>
                        <a:rPr lang="en-US" altLang="zh-CN" sz="1200" dirty="0" smtClean="0"/>
                        <a:t>1024</a:t>
                      </a:r>
                      <a:endParaRPr lang="zh-CN" altLang="en-US" sz="1200" dirty="0"/>
                    </a:p>
                  </a:txBody>
                  <a:tcPr/>
                </a:tc>
                <a:tc>
                  <a:txBody>
                    <a:bodyPr/>
                    <a:lstStyle/>
                    <a:p>
                      <a:r>
                        <a:rPr lang="en-US" altLang="zh-CN" sz="1200" dirty="0" smtClean="0"/>
                        <a:t>32768</a:t>
                      </a:r>
                      <a:endParaRPr lang="zh-CN" altLang="en-US" sz="1200" dirty="0"/>
                    </a:p>
                  </a:txBody>
                  <a:tcPr/>
                </a:tc>
                <a:tc>
                  <a:txBody>
                    <a:bodyPr/>
                    <a:lstStyle/>
                    <a:p>
                      <a:r>
                        <a:rPr lang="en-US" altLang="zh-CN" sz="1200" dirty="0" smtClean="0"/>
                        <a:t>4294967396</a:t>
                      </a:r>
                      <a:endParaRPr lang="zh-CN" altLang="en-US" sz="1200" dirty="0"/>
                    </a:p>
                  </a:txBody>
                  <a:tcPr/>
                </a:tc>
              </a:tr>
              <a:tr h="505048">
                <a:tc>
                  <a:txBody>
                    <a:bodyPr/>
                    <a:lstStyle/>
                    <a:p>
                      <a:r>
                        <a:rPr lang="en-US" altLang="zh-CN" sz="1200" dirty="0" smtClean="0"/>
                        <a:t>64</a:t>
                      </a:r>
                      <a:endParaRPr lang="zh-CN" altLang="en-US" sz="1200" dirty="0"/>
                    </a:p>
                  </a:txBody>
                  <a:tcPr/>
                </a:tc>
                <a:tc>
                  <a:txBody>
                    <a:bodyPr/>
                    <a:lstStyle/>
                    <a:p>
                      <a:r>
                        <a:rPr lang="en-US" altLang="zh-CN" sz="1200" dirty="0" smtClean="0"/>
                        <a:t>6</a:t>
                      </a:r>
                      <a:endParaRPr lang="zh-CN" altLang="en-US" sz="1200" dirty="0"/>
                    </a:p>
                  </a:txBody>
                  <a:tcPr/>
                </a:tc>
                <a:tc>
                  <a:txBody>
                    <a:bodyPr/>
                    <a:lstStyle/>
                    <a:p>
                      <a:r>
                        <a:rPr lang="en-US" altLang="zh-CN" sz="1200" dirty="0" smtClean="0"/>
                        <a:t>384</a:t>
                      </a:r>
                      <a:endParaRPr lang="zh-CN" altLang="en-US" sz="1200" dirty="0"/>
                    </a:p>
                  </a:txBody>
                  <a:tcPr/>
                </a:tc>
                <a:tc>
                  <a:txBody>
                    <a:bodyPr/>
                    <a:lstStyle/>
                    <a:p>
                      <a:r>
                        <a:rPr lang="en-US" altLang="zh-CN" sz="1200" dirty="0" smtClean="0"/>
                        <a:t>4096</a:t>
                      </a:r>
                      <a:endParaRPr lang="zh-CN" altLang="en-US" sz="1200" dirty="0"/>
                    </a:p>
                  </a:txBody>
                  <a:tcPr/>
                </a:tc>
                <a:tc>
                  <a:txBody>
                    <a:bodyPr/>
                    <a:lstStyle/>
                    <a:p>
                      <a:r>
                        <a:rPr lang="en-US" altLang="zh-CN" sz="1200" dirty="0" smtClean="0"/>
                        <a:t>262144</a:t>
                      </a:r>
                      <a:endParaRPr lang="zh-CN" altLang="en-US" sz="1200" dirty="0"/>
                    </a:p>
                  </a:txBody>
                  <a:tcPr/>
                </a:tc>
                <a:tc>
                  <a:txBody>
                    <a:bodyPr/>
                    <a:lstStyle/>
                    <a:p>
                      <a:r>
                        <a:rPr lang="en-US" altLang="zh-CN" sz="1200" dirty="0" smtClean="0"/>
                        <a:t>About</a:t>
                      </a:r>
                      <a:r>
                        <a:rPr lang="en-US" altLang="zh-CN" sz="1200" baseline="0" dirty="0" smtClean="0"/>
                        <a:t> 5 years’ worth of instructions on a supercomputer</a:t>
                      </a:r>
                      <a:endParaRPr lang="zh-CN" altLang="en-US" sz="1200" dirty="0"/>
                    </a:p>
                  </a:txBody>
                  <a:tcPr/>
                </a:tc>
              </a:tr>
              <a:tr h="717699">
                <a:tc>
                  <a:txBody>
                    <a:bodyPr/>
                    <a:lstStyle/>
                    <a:p>
                      <a:r>
                        <a:rPr lang="en-US" altLang="zh-CN" sz="1200" dirty="0" smtClean="0"/>
                        <a:t>128</a:t>
                      </a:r>
                      <a:endParaRPr lang="zh-CN" altLang="en-US" sz="1200" dirty="0"/>
                    </a:p>
                  </a:txBody>
                  <a:tcPr/>
                </a:tc>
                <a:tc>
                  <a:txBody>
                    <a:bodyPr/>
                    <a:lstStyle/>
                    <a:p>
                      <a:r>
                        <a:rPr lang="en-US" altLang="zh-CN" sz="1200" dirty="0" smtClean="0"/>
                        <a:t>7</a:t>
                      </a:r>
                      <a:endParaRPr lang="zh-CN" altLang="en-US" sz="1200" dirty="0"/>
                    </a:p>
                  </a:txBody>
                  <a:tcPr/>
                </a:tc>
                <a:tc>
                  <a:txBody>
                    <a:bodyPr/>
                    <a:lstStyle/>
                    <a:p>
                      <a:r>
                        <a:rPr lang="en-US" altLang="zh-CN" sz="1200" dirty="0" smtClean="0"/>
                        <a:t>896</a:t>
                      </a:r>
                      <a:endParaRPr lang="zh-CN" altLang="en-US" sz="1200" dirty="0"/>
                    </a:p>
                  </a:txBody>
                  <a:tcPr/>
                </a:tc>
                <a:tc>
                  <a:txBody>
                    <a:bodyPr/>
                    <a:lstStyle/>
                    <a:p>
                      <a:r>
                        <a:rPr lang="en-US" altLang="zh-CN" sz="1200" dirty="0" smtClean="0"/>
                        <a:t>16384</a:t>
                      </a:r>
                      <a:endParaRPr lang="zh-CN" altLang="en-US" sz="1200" dirty="0"/>
                    </a:p>
                  </a:txBody>
                  <a:tcPr/>
                </a:tc>
                <a:tc>
                  <a:txBody>
                    <a:bodyPr/>
                    <a:lstStyle/>
                    <a:p>
                      <a:r>
                        <a:rPr lang="en-US" altLang="zh-CN" sz="1200" dirty="0" smtClean="0"/>
                        <a:t>2097152</a:t>
                      </a:r>
                      <a:endParaRPr lang="zh-CN" altLang="en-US" sz="1200" dirty="0"/>
                    </a:p>
                  </a:txBody>
                  <a:tcPr/>
                </a:tc>
                <a:tc>
                  <a:txBody>
                    <a:bodyPr/>
                    <a:lstStyle/>
                    <a:p>
                      <a:r>
                        <a:rPr lang="en-US" altLang="zh-CN" sz="1200" dirty="0" smtClean="0"/>
                        <a:t>About</a:t>
                      </a:r>
                      <a:r>
                        <a:rPr lang="en-US" altLang="zh-CN" sz="1200" baseline="0" dirty="0" smtClean="0"/>
                        <a:t> 600000 times greater than the age of the universe in </a:t>
                      </a:r>
                      <a:r>
                        <a:rPr lang="en-US" altLang="zh-CN" sz="1200" baseline="0" dirty="0" err="1" smtClean="0"/>
                        <a:t>nano</a:t>
                      </a:r>
                      <a:r>
                        <a:rPr lang="en-US" altLang="zh-CN" sz="1200" baseline="0" dirty="0" smtClean="0"/>
                        <a:t>-seconds(for a 6-billion-year estimate)</a:t>
                      </a:r>
                      <a:endParaRPr lang="zh-CN" altLang="en-US" sz="1200" dirty="0"/>
                    </a:p>
                  </a:txBody>
                  <a:tcPr/>
                </a:tc>
              </a:tr>
              <a:tr h="311504">
                <a:tc>
                  <a:txBody>
                    <a:bodyPr/>
                    <a:lstStyle/>
                    <a:p>
                      <a:r>
                        <a:rPr lang="en-US" altLang="zh-CN" sz="1200" dirty="0" smtClean="0"/>
                        <a:t>256</a:t>
                      </a:r>
                      <a:endParaRPr lang="zh-CN" altLang="en-US" sz="1200" dirty="0"/>
                    </a:p>
                  </a:txBody>
                  <a:tcPr/>
                </a:tc>
                <a:tc>
                  <a:txBody>
                    <a:bodyPr/>
                    <a:lstStyle/>
                    <a:p>
                      <a:r>
                        <a:rPr lang="en-US" altLang="zh-CN" sz="1200" dirty="0" smtClean="0"/>
                        <a:t>8</a:t>
                      </a:r>
                      <a:endParaRPr lang="zh-CN" altLang="en-US" sz="1200" dirty="0"/>
                    </a:p>
                  </a:txBody>
                  <a:tcPr/>
                </a:tc>
                <a:tc>
                  <a:txBody>
                    <a:bodyPr/>
                    <a:lstStyle/>
                    <a:p>
                      <a:r>
                        <a:rPr lang="en-US" altLang="zh-CN" sz="1200" dirty="0" smtClean="0"/>
                        <a:t>2048</a:t>
                      </a:r>
                      <a:endParaRPr lang="zh-CN" altLang="en-US" sz="1200" dirty="0"/>
                    </a:p>
                  </a:txBody>
                  <a:tcPr/>
                </a:tc>
                <a:tc>
                  <a:txBody>
                    <a:bodyPr/>
                    <a:lstStyle/>
                    <a:p>
                      <a:r>
                        <a:rPr lang="en-US" altLang="zh-CN" sz="1200" dirty="0" smtClean="0"/>
                        <a:t>65536</a:t>
                      </a:r>
                      <a:endParaRPr lang="zh-CN" altLang="en-US" sz="1200" dirty="0"/>
                    </a:p>
                  </a:txBody>
                  <a:tcPr/>
                </a:tc>
                <a:tc>
                  <a:txBody>
                    <a:bodyPr/>
                    <a:lstStyle/>
                    <a:p>
                      <a:r>
                        <a:rPr lang="en-US" altLang="zh-CN" sz="1200" dirty="0" smtClean="0"/>
                        <a:t>16777216</a:t>
                      </a:r>
                      <a:endParaRPr lang="zh-CN" altLang="en-US" sz="1200" dirty="0"/>
                    </a:p>
                  </a:txBody>
                  <a:tcPr/>
                </a:tc>
                <a:tc>
                  <a:txBody>
                    <a:bodyPr/>
                    <a:lstStyle/>
                    <a:p>
                      <a:r>
                        <a:rPr lang="en-US" altLang="zh-CN" sz="1200" dirty="0" smtClean="0"/>
                        <a:t>Don’t ask</a:t>
                      </a:r>
                      <a:endParaRPr lang="zh-CN" altLang="en-US" sz="1200" dirty="0"/>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chemeClr val="bg1">
                    <a:lumMod val="85000"/>
                  </a:schemeClr>
                </a:solidFill>
              </a:rPr>
              <a:t>Comparing Algorithms</a:t>
            </a:r>
            <a:endParaRPr lang="zh-CN" altLang="en-US" dirty="0"/>
          </a:p>
        </p:txBody>
      </p:sp>
      <p:sp>
        <p:nvSpPr>
          <p:cNvPr id="3" name="内容占位符 2"/>
          <p:cNvSpPr>
            <a:spLocks noGrp="1"/>
          </p:cNvSpPr>
          <p:nvPr>
            <p:ph idx="1"/>
          </p:nvPr>
        </p:nvSpPr>
        <p:spPr/>
        <p:txBody>
          <a:bodyPr/>
          <a:lstStyle/>
          <a:p>
            <a:r>
              <a:rPr lang="en-US" altLang="zh-CN" dirty="0" smtClean="0"/>
              <a:t>Think of common orders of complexity as being bins into which we sort algorithms.</a:t>
            </a:r>
            <a:endParaRPr lang="en-US" altLang="zh-CN" dirty="0" smtClean="0"/>
          </a:p>
          <a:p>
            <a:endParaRPr lang="zh-CN" altLang="en-US" dirty="0"/>
          </a:p>
        </p:txBody>
      </p:sp>
      <p:pic>
        <p:nvPicPr>
          <p:cNvPr id="4" name="Picture 2"/>
          <p:cNvPicPr>
            <a:picLocks noChangeAspect="1" noChangeArrowheads="1"/>
          </p:cNvPicPr>
          <p:nvPr/>
        </p:nvPicPr>
        <p:blipFill>
          <a:blip r:embed="rId1"/>
          <a:srcRect/>
          <a:stretch>
            <a:fillRect/>
          </a:stretch>
        </p:blipFill>
        <p:spPr bwMode="auto">
          <a:xfrm>
            <a:off x="785786" y="3143248"/>
            <a:ext cx="7499350" cy="2148286"/>
          </a:xfrm>
          <a:prstGeom prst="rect">
            <a:avLst/>
          </a:prstGeom>
          <a:noFill/>
          <a:ln w="9525">
            <a:noFill/>
            <a:miter lim="800000"/>
            <a:headEnd/>
            <a:tailEnd/>
          </a:ln>
          <a:effectLst/>
        </p:spPr>
      </p:pic>
      <p:sp>
        <p:nvSpPr>
          <p:cNvPr id="5" name="TextBox 4"/>
          <p:cNvSpPr txBox="1"/>
          <p:nvPr/>
        </p:nvSpPr>
        <p:spPr>
          <a:xfrm>
            <a:off x="2285984" y="5572140"/>
            <a:ext cx="3714776" cy="646331"/>
          </a:xfrm>
          <a:prstGeom prst="rect">
            <a:avLst/>
          </a:prstGeom>
          <a:noFill/>
        </p:spPr>
        <p:txBody>
          <a:bodyPr wrap="square" rtlCol="0">
            <a:spAutoFit/>
          </a:bodyPr>
          <a:lstStyle/>
          <a:p>
            <a:r>
              <a:rPr lang="en-US" altLang="zh-CN" dirty="0" smtClean="0">
                <a:solidFill>
                  <a:srgbClr val="FFFF00"/>
                </a:solidFill>
              </a:rPr>
              <a:t>Figure 17.3 Orders of complexity</a:t>
            </a:r>
            <a:endParaRPr lang="zh-CN" altLang="en-US" dirty="0" smtClean="0">
              <a:solidFill>
                <a:srgbClr val="FFFF00"/>
              </a:solidFill>
            </a:endParaRPr>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ppt_x</p:attrName>
                                        </p:attrNameLst>
                                      </p:cBhvr>
                                      <p:tavLst>
                                        <p:tav tm="0">
                                          <p:val>
                                            <p:strVal val="#ppt_x-.2"/>
                                          </p:val>
                                        </p:tav>
                                        <p:tav tm="100000">
                                          <p:val>
                                            <p:strVal val="#ppt_x"/>
                                          </p:val>
                                        </p:tav>
                                      </p:tavLst>
                                    </p:anim>
                                    <p:anim calcmode="lin" valueType="num">
                                      <p:cBhvr>
                                        <p:cTn id="8"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1000"/>
                                        <p:tgtEl>
                                          <p:spTgt spid="4"/>
                                        </p:tgtEl>
                                      </p:cBhvr>
                                    </p:animEffect>
                                  </p:childTnLst>
                                </p:cTn>
                              </p:par>
                            </p:childTnLst>
                          </p:cTn>
                        </p:par>
                        <p:par>
                          <p:cTn id="10" fill="hold">
                            <p:stCondLst>
                              <p:cond delay="1000"/>
                            </p:stCondLst>
                            <p:childTnLst>
                              <p:par>
                                <p:cTn id="11" presetID="10"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zh-CN" altLang="en-US" b="1">
                <a:solidFill>
                  <a:schemeClr val="bg1"/>
                </a:solidFill>
                <a:ea typeface="楷体_GB2312" pitchFamily="49" charset="-122"/>
              </a:rPr>
              <a:t>Turing Machines</a:t>
            </a:r>
            <a:endParaRPr lang="zh-CN" altLang="en-US" b="1">
              <a:solidFill>
                <a:schemeClr val="bg1"/>
              </a:solidFill>
              <a:ea typeface="楷体_GB2312" pitchFamily="49" charset="-122"/>
            </a:endParaRPr>
          </a:p>
        </p:txBody>
      </p:sp>
      <p:sp>
        <p:nvSpPr>
          <p:cNvPr id="3075" name="Rectangle 3"/>
          <p:cNvSpPr>
            <a:spLocks noGrp="1" noChangeArrowheads="1"/>
          </p:cNvSpPr>
          <p:nvPr>
            <p:ph idx="1"/>
          </p:nvPr>
        </p:nvSpPr>
        <p:spPr/>
        <p:txBody>
          <a:bodyPr/>
          <a:lstStyle/>
          <a:p>
            <a:r>
              <a:rPr lang="zh-CN" altLang="en-US" dirty="0">
                <a:solidFill>
                  <a:srgbClr val="66FFFF"/>
                </a:solidFill>
              </a:rPr>
              <a:t>Alan Turing</a:t>
            </a:r>
            <a:endParaRPr lang="zh-CN" altLang="en-US" dirty="0">
              <a:solidFill>
                <a:srgbClr val="66FFFF"/>
              </a:solidFill>
            </a:endParaRPr>
          </a:p>
          <a:p>
            <a:r>
              <a:rPr lang="zh-CN" altLang="en-US" dirty="0">
                <a:solidFill>
                  <a:srgbClr val="66FFFF"/>
                </a:solidFill>
              </a:rPr>
              <a:t>Church-Turing thesis</a:t>
            </a:r>
            <a:endParaRPr lang="zh-CN" altLang="en-US" dirty="0">
              <a:solidFill>
                <a:srgbClr val="66FFFF"/>
              </a:solidFill>
            </a:endParaRPr>
          </a:p>
          <a:p>
            <a:pPr>
              <a:buFontTx/>
              <a:buNone/>
            </a:pPr>
            <a:r>
              <a:rPr lang="zh-CN" altLang="en-US" sz="2400" dirty="0">
                <a:solidFill>
                  <a:srgbClr val="FFFF00"/>
                </a:solidFill>
              </a:rPr>
              <a:t>    -</a:t>
            </a:r>
            <a:r>
              <a:rPr lang="zh-CN" altLang="en-US" sz="2800" dirty="0">
                <a:solidFill>
                  <a:srgbClr val="FFFF00"/>
                </a:solidFill>
              </a:rPr>
              <a:t>It is widely accepted that anything that is intuitively computable can be computed by a Turing machhine.</a:t>
            </a:r>
            <a:endParaRPr lang="zh-CN" altLang="en-US" sz="2800" dirty="0">
              <a:solidFill>
                <a:srgbClr val="FFFF00"/>
              </a:solidFill>
            </a:endParaRPr>
          </a:p>
          <a:p>
            <a:r>
              <a:rPr lang="zh-CN" altLang="en-US" dirty="0">
                <a:solidFill>
                  <a:srgbClr val="66FFFF"/>
                </a:solidFill>
              </a:rPr>
              <a:t>Conclusion from church-turing thesis</a:t>
            </a:r>
            <a:endParaRPr lang="zh-CN" altLang="en-US" dirty="0">
              <a:solidFill>
                <a:srgbClr val="66FFFF"/>
              </a:solidFill>
            </a:endParaRPr>
          </a:p>
          <a:p>
            <a:pPr>
              <a:buFontTx/>
              <a:buNone/>
            </a:pPr>
            <a:r>
              <a:rPr lang="zh-CN" altLang="en-US" dirty="0">
                <a:solidFill>
                  <a:srgbClr val="66FFFF"/>
                </a:solidFill>
              </a:rPr>
              <a:t>   </a:t>
            </a:r>
            <a:r>
              <a:rPr lang="zh-CN" altLang="en-US" sz="2800" dirty="0">
                <a:solidFill>
                  <a:srgbClr val="FFFF00"/>
                </a:solidFill>
                <a:sym typeface="Arial" panose="020B0604020202020204" pitchFamily="34" charset="0"/>
              </a:rPr>
              <a:t>-If we can find a problem for which a Turing -machine solution can be proven not to exit,then that problem must be unsolvable</a:t>
            </a:r>
            <a:endParaRPr lang="zh-CN" altLang="en-US" sz="2800" dirty="0">
              <a:solidFill>
                <a:srgbClr val="FFFF00"/>
              </a:solidFill>
              <a:sym typeface="Arial" panose="020B0604020202020204" pitchFamily="34" charset="0"/>
            </a:endParaRPr>
          </a:p>
          <a:p>
            <a:endParaRPr lang="zh-CN" altLang="en-US" sz="2800" dirty="0">
              <a:solidFill>
                <a:srgbClr val="66FFFF"/>
              </a:solidFill>
            </a:endParaRPr>
          </a:p>
          <a:p>
            <a:pPr>
              <a:buFontTx/>
              <a:buNone/>
            </a:pPr>
            <a:endParaRPr lang="zh-CN" altLang="en-US" dirty="0">
              <a:solidFill>
                <a:srgbClr val="66FFFF"/>
              </a:solidFill>
            </a:endParaRPr>
          </a:p>
          <a:p>
            <a:pPr>
              <a:buFontTx/>
              <a:buNone/>
            </a:pPr>
            <a:endParaRPr lang="zh-CN" altLang="en-US" sz="2400" dirty="0">
              <a:solidFill>
                <a:srgbClr val="FFFF00"/>
              </a:solidFill>
            </a:endParaRPr>
          </a:p>
          <a:p>
            <a:pPr>
              <a:buFontTx/>
              <a:buNone/>
            </a:pPr>
            <a:endParaRPr lang="zh-CN" altLang="en-US" sz="2400" dirty="0">
              <a:solidFill>
                <a:srgbClr val="FFFF00"/>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zh-CN" altLang="en-US">
                <a:solidFill>
                  <a:schemeClr val="bg1"/>
                </a:solidFill>
              </a:rPr>
              <a:t>Halting Problem</a:t>
            </a:r>
            <a:endParaRPr lang="zh-CN" altLang="en-US">
              <a:solidFill>
                <a:schemeClr val="bg1"/>
              </a:solidFill>
            </a:endParaRPr>
          </a:p>
        </p:txBody>
      </p:sp>
      <p:sp>
        <p:nvSpPr>
          <p:cNvPr id="4099" name="Rectangle 3"/>
          <p:cNvSpPr>
            <a:spLocks noGrp="1" noChangeArrowheads="1"/>
          </p:cNvSpPr>
          <p:nvPr>
            <p:ph idx="1"/>
          </p:nvPr>
        </p:nvSpPr>
        <p:spPr/>
        <p:txBody>
          <a:bodyPr/>
          <a:lstStyle/>
          <a:p>
            <a:r>
              <a:rPr lang="zh-CN" altLang="en-US">
                <a:solidFill>
                  <a:srgbClr val="66FFFF"/>
                </a:solidFill>
              </a:rPr>
              <a:t>The halting problem</a:t>
            </a:r>
            <a:r>
              <a:rPr lang="zh-CN" altLang="en-US">
                <a:solidFill>
                  <a:srgbClr val="FFFF00"/>
                </a:solidFill>
              </a:rPr>
              <a:t> restates the question in this way</a:t>
            </a:r>
            <a:endParaRPr lang="zh-CN" altLang="en-US">
              <a:solidFill>
                <a:srgbClr val="FFFF00"/>
              </a:solidFill>
            </a:endParaRPr>
          </a:p>
          <a:p>
            <a:pPr>
              <a:buFontTx/>
              <a:buNone/>
            </a:pPr>
            <a:r>
              <a:rPr lang="zh-CN" altLang="en-US" sz="2400">
                <a:solidFill>
                  <a:srgbClr val="FFFF00"/>
                </a:solidFill>
              </a:rPr>
              <a:t>   -</a:t>
            </a:r>
            <a:r>
              <a:rPr lang="zh-CN" altLang="en-US" sz="2800">
                <a:solidFill>
                  <a:srgbClr val="FFFF00"/>
                </a:solidFill>
              </a:rPr>
              <a:t>Given a problem and an input to the program,determine if the problem will eventually stop with this input.</a:t>
            </a:r>
            <a:endParaRPr lang="zh-CN" altLang="en-US" sz="2800">
              <a:solidFill>
                <a:srgbClr val="FFFF00"/>
              </a:solidFill>
            </a:endParaRPr>
          </a:p>
          <a:p>
            <a:r>
              <a:rPr lang="zh-CN" altLang="en-US">
                <a:solidFill>
                  <a:srgbClr val="66FFFF"/>
                </a:solidFill>
              </a:rPr>
              <a:t>Halting problem</a:t>
            </a:r>
            <a:endParaRPr lang="zh-CN" altLang="en-US">
              <a:solidFill>
                <a:srgbClr val="66FFFF"/>
              </a:solidFill>
            </a:endParaRPr>
          </a:p>
          <a:p>
            <a:pPr>
              <a:buFontTx/>
              <a:buNone/>
            </a:pPr>
            <a:r>
              <a:rPr lang="zh-CN" altLang="en-US" sz="2400">
                <a:solidFill>
                  <a:srgbClr val="FFFF00"/>
                </a:solidFill>
              </a:rPr>
              <a:t>   -</a:t>
            </a:r>
            <a:r>
              <a:rPr lang="zh-CN" altLang="en-US" sz="2800">
                <a:solidFill>
                  <a:srgbClr val="FFFF00"/>
                </a:solidFill>
              </a:rPr>
              <a:t>The unsolvable problem of determing whether any problem will enventually stop given a particular input</a:t>
            </a:r>
            <a:endParaRPr lang="zh-CN" altLang="en-US" sz="2800">
              <a:solidFill>
                <a:srgbClr val="FFFF00"/>
              </a:solidFil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Group 2"/>
          <p:cNvGraphicFramePr>
            <a:graphicFrameLocks noGrp="1"/>
          </p:cNvGraphicFramePr>
          <p:nvPr/>
        </p:nvGraphicFramePr>
        <p:xfrm>
          <a:off x="179388" y="1917700"/>
          <a:ext cx="8713787" cy="3024188"/>
        </p:xfrm>
        <a:graphic>
          <a:graphicData uri="http://schemas.openxmlformats.org/drawingml/2006/table">
            <a:tbl>
              <a:tblPr/>
              <a:tblGrid>
                <a:gridCol w="8713787"/>
              </a:tblGrid>
              <a:tr h="3024188">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800" b="1" i="0" u="none" strike="noStrike" cap="none" normalizeH="0" baseline="0" dirty="0" smtClean="0">
                        <a:ln>
                          <a:noFill/>
                        </a:ln>
                        <a:effectLst/>
                        <a:latin typeface="Arial" panose="020B0604020202020204" pitchFamily="34" charset="0"/>
                        <a:ea typeface="宋体" panose="02010600030101010101" pitchFamily="2" charset="-122"/>
                        <a:sym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5128" name="Text Box 8"/>
          <p:cNvSpPr txBox="1">
            <a:spLocks noChangeArrowheads="1"/>
          </p:cNvSpPr>
          <p:nvPr/>
        </p:nvSpPr>
        <p:spPr bwMode="auto">
          <a:xfrm>
            <a:off x="1160463" y="2206625"/>
            <a:ext cx="2765425" cy="365125"/>
          </a:xfrm>
          <a:prstGeom prst="rect">
            <a:avLst/>
          </a:prstGeom>
          <a:noFill/>
          <a:ln w="9525">
            <a:noFill/>
            <a:miter lim="800000"/>
          </a:ln>
          <a:effectLst/>
        </p:spPr>
        <p:txBody>
          <a:bodyPr>
            <a:spAutoFit/>
          </a:bodyPr>
          <a:lstStyle/>
          <a:p>
            <a:endParaRPr lang="zh-CN" altLang="zh-CN" b="0"/>
          </a:p>
        </p:txBody>
      </p:sp>
      <p:sp>
        <p:nvSpPr>
          <p:cNvPr id="5129" name="AutoShape 9"/>
          <p:cNvSpPr>
            <a:spLocks noChangeArrowheads="1"/>
          </p:cNvSpPr>
          <p:nvPr/>
        </p:nvSpPr>
        <p:spPr bwMode="auto">
          <a:xfrm>
            <a:off x="458788" y="2573338"/>
            <a:ext cx="2341562" cy="1144587"/>
          </a:xfrm>
          <a:prstGeom prst="flowChartProcess">
            <a:avLst/>
          </a:prstGeom>
          <a:solidFill>
            <a:schemeClr val="accent1"/>
          </a:solidFill>
          <a:ln w="9525" cap="flat" cmpd="sng">
            <a:solidFill>
              <a:schemeClr val="tx1"/>
            </a:solidFill>
            <a:miter lim="800000"/>
          </a:ln>
          <a:effectLst/>
        </p:spPr>
        <p:txBody>
          <a:bodyPr wrap="none" anchor="ctr"/>
          <a:lstStyle/>
          <a:p>
            <a:pPr algn="ctr"/>
            <a:r>
              <a:rPr lang="zh-CN" altLang="en-US"/>
              <a:t>Program Example</a:t>
            </a:r>
            <a:endParaRPr lang="zh-CN" altLang="en-US"/>
          </a:p>
          <a:p>
            <a:pPr algn="ctr"/>
            <a:r>
              <a:rPr lang="zh-CN" altLang="en-US"/>
              <a:t>and</a:t>
            </a:r>
            <a:endParaRPr lang="zh-CN" altLang="en-US"/>
          </a:p>
          <a:p>
            <a:pPr algn="ctr"/>
            <a:r>
              <a:rPr lang="zh-CN" altLang="en-US"/>
              <a:t>SampleData</a:t>
            </a:r>
            <a:endParaRPr lang="zh-CN" altLang="en-US"/>
          </a:p>
        </p:txBody>
      </p:sp>
      <p:sp>
        <p:nvSpPr>
          <p:cNvPr id="5130" name="Rectangle 10"/>
          <p:cNvSpPr>
            <a:spLocks noChangeArrowheads="1"/>
          </p:cNvSpPr>
          <p:nvPr/>
        </p:nvSpPr>
        <p:spPr bwMode="auto">
          <a:xfrm>
            <a:off x="3203575" y="2889250"/>
            <a:ext cx="2952750" cy="504825"/>
          </a:xfrm>
          <a:prstGeom prst="rect">
            <a:avLst/>
          </a:prstGeom>
          <a:solidFill>
            <a:schemeClr val="accent1"/>
          </a:solidFill>
          <a:ln w="9525" cap="flat" cmpd="sng">
            <a:solidFill>
              <a:schemeClr val="tx1"/>
            </a:solidFill>
            <a:miter lim="800000"/>
          </a:ln>
          <a:effectLst/>
        </p:spPr>
        <p:txBody>
          <a:bodyPr wrap="none" anchor="ctr"/>
          <a:lstStyle/>
          <a:p>
            <a:pPr algn="ctr"/>
            <a:r>
              <a:rPr lang="zh-CN" altLang="en-US"/>
              <a:t>SolvesHaltingProblem</a:t>
            </a:r>
            <a:endParaRPr lang="zh-CN" altLang="en-US"/>
          </a:p>
        </p:txBody>
      </p:sp>
      <p:sp>
        <p:nvSpPr>
          <p:cNvPr id="5131" name="Rectangle 11"/>
          <p:cNvSpPr>
            <a:spLocks noChangeArrowheads="1"/>
          </p:cNvSpPr>
          <p:nvPr/>
        </p:nvSpPr>
        <p:spPr bwMode="auto">
          <a:xfrm>
            <a:off x="6804025" y="2573338"/>
            <a:ext cx="1657350" cy="1144587"/>
          </a:xfrm>
          <a:prstGeom prst="rect">
            <a:avLst/>
          </a:prstGeom>
          <a:solidFill>
            <a:schemeClr val="accent1"/>
          </a:solidFill>
          <a:ln w="9525" cap="flat" cmpd="sng">
            <a:solidFill>
              <a:schemeClr val="tx1"/>
            </a:solidFill>
            <a:miter lim="800000"/>
          </a:ln>
          <a:effectLst/>
        </p:spPr>
        <p:txBody>
          <a:bodyPr wrap="none" anchor="ctr"/>
          <a:lstStyle/>
          <a:p>
            <a:pPr algn="ctr"/>
            <a:r>
              <a:rPr lang="zh-CN" altLang="en-US"/>
              <a:t>"Halls"</a:t>
            </a:r>
            <a:endParaRPr lang="zh-CN" altLang="en-US"/>
          </a:p>
          <a:p>
            <a:pPr algn="ctr"/>
            <a:r>
              <a:rPr lang="zh-CN" altLang="en-US"/>
              <a:t>or</a:t>
            </a:r>
            <a:endParaRPr lang="zh-CN" altLang="en-US"/>
          </a:p>
          <a:p>
            <a:pPr algn="ctr"/>
            <a:r>
              <a:rPr lang="zh-CN" altLang="en-US"/>
              <a:t>"Loops"</a:t>
            </a:r>
            <a:endParaRPr lang="zh-CN" altLang="en-US" b="0"/>
          </a:p>
        </p:txBody>
      </p:sp>
      <p:sp>
        <p:nvSpPr>
          <p:cNvPr id="5132" name="箭头 77"/>
          <p:cNvSpPr>
            <a:spLocks noChangeShapeType="1"/>
          </p:cNvSpPr>
          <p:nvPr/>
        </p:nvSpPr>
        <p:spPr bwMode="auto">
          <a:xfrm>
            <a:off x="2800350" y="3141663"/>
            <a:ext cx="403225" cy="0"/>
          </a:xfrm>
          <a:prstGeom prst="line">
            <a:avLst/>
          </a:prstGeom>
          <a:noFill/>
          <a:ln w="9525" cap="flat" cmpd="sng">
            <a:solidFill>
              <a:schemeClr val="tx1"/>
            </a:solidFill>
            <a:round/>
            <a:tailEnd type="triangle" w="med" len="med"/>
          </a:ln>
          <a:effectLst/>
        </p:spPr>
        <p:txBody>
          <a:bodyPr/>
          <a:lstStyle/>
          <a:p>
            <a:endParaRPr lang="zh-CN" altLang="en-US"/>
          </a:p>
        </p:txBody>
      </p:sp>
      <p:sp>
        <p:nvSpPr>
          <p:cNvPr id="5133" name="箭头 78"/>
          <p:cNvSpPr>
            <a:spLocks noChangeShapeType="1"/>
          </p:cNvSpPr>
          <p:nvPr/>
        </p:nvSpPr>
        <p:spPr bwMode="auto">
          <a:xfrm>
            <a:off x="6156325" y="3141663"/>
            <a:ext cx="647700" cy="0"/>
          </a:xfrm>
          <a:prstGeom prst="line">
            <a:avLst/>
          </a:prstGeom>
          <a:noFill/>
          <a:ln w="9525" cap="flat" cmpd="sng">
            <a:solidFill>
              <a:schemeClr val="tx1"/>
            </a:solidFill>
            <a:round/>
            <a:tailEnd type="triangle" w="med" len="med"/>
          </a:ln>
          <a:effectLst/>
        </p:spPr>
        <p:txBody>
          <a:bodyPr/>
          <a:lstStyle/>
          <a:p>
            <a:endParaRPr lang="zh-CN" altLang="en-US"/>
          </a:p>
        </p:txBody>
      </p:sp>
      <p:sp>
        <p:nvSpPr>
          <p:cNvPr id="5134" name="Text Box 14"/>
          <p:cNvSpPr txBox="1">
            <a:spLocks noChangeArrowheads="1"/>
          </p:cNvSpPr>
          <p:nvPr/>
        </p:nvSpPr>
        <p:spPr bwMode="auto">
          <a:xfrm>
            <a:off x="1004888" y="4256088"/>
            <a:ext cx="830262" cy="365125"/>
          </a:xfrm>
          <a:prstGeom prst="rect">
            <a:avLst/>
          </a:prstGeom>
          <a:noFill/>
          <a:ln w="9525">
            <a:noFill/>
            <a:miter lim="800000"/>
          </a:ln>
          <a:effectLst/>
        </p:spPr>
        <p:txBody>
          <a:bodyPr>
            <a:spAutoFit/>
          </a:bodyPr>
          <a:lstStyle/>
          <a:p>
            <a:r>
              <a:rPr lang="zh-CN" altLang="en-US"/>
              <a:t>Input</a:t>
            </a:r>
            <a:endParaRPr lang="zh-CN" altLang="en-US"/>
          </a:p>
        </p:txBody>
      </p:sp>
      <p:sp>
        <p:nvSpPr>
          <p:cNvPr id="5135" name="Text Box 15"/>
          <p:cNvSpPr txBox="1">
            <a:spLocks noChangeArrowheads="1"/>
          </p:cNvSpPr>
          <p:nvPr/>
        </p:nvSpPr>
        <p:spPr bwMode="auto">
          <a:xfrm>
            <a:off x="3608388" y="4256088"/>
            <a:ext cx="1395412" cy="366712"/>
          </a:xfrm>
          <a:prstGeom prst="rect">
            <a:avLst/>
          </a:prstGeom>
          <a:noFill/>
          <a:ln w="9525">
            <a:noFill/>
            <a:miter lim="800000"/>
          </a:ln>
          <a:effectLst/>
        </p:spPr>
        <p:txBody>
          <a:bodyPr>
            <a:spAutoFit/>
          </a:bodyPr>
          <a:lstStyle/>
          <a:p>
            <a:endParaRPr lang="zh-CN" altLang="en-US">
              <a:effectLst>
                <a:outerShdw blurRad="38100" dist="38100" dir="2700000" algn="tl">
                  <a:srgbClr val="FFFFFF"/>
                </a:outerShdw>
              </a:effectLst>
            </a:endParaRPr>
          </a:p>
        </p:txBody>
      </p:sp>
      <p:sp>
        <p:nvSpPr>
          <p:cNvPr id="5136" name="Text Box 16"/>
          <p:cNvSpPr txBox="1">
            <a:spLocks noChangeArrowheads="1"/>
          </p:cNvSpPr>
          <p:nvPr/>
        </p:nvSpPr>
        <p:spPr bwMode="auto">
          <a:xfrm>
            <a:off x="6837363" y="4316413"/>
            <a:ext cx="1263650" cy="366712"/>
          </a:xfrm>
          <a:prstGeom prst="rect">
            <a:avLst/>
          </a:prstGeom>
          <a:noFill/>
          <a:ln w="9525">
            <a:noFill/>
            <a:miter lim="800000"/>
          </a:ln>
          <a:effectLst/>
        </p:spPr>
        <p:txBody>
          <a:bodyPr>
            <a:spAutoFit/>
          </a:bodyPr>
          <a:lstStyle/>
          <a:p>
            <a:r>
              <a:rPr lang="zh-CN" altLang="en-US"/>
              <a:t>Output</a:t>
            </a:r>
            <a:endParaRPr lang="zh-CN" altLang="en-US"/>
          </a:p>
        </p:txBody>
      </p:sp>
      <p:sp>
        <p:nvSpPr>
          <p:cNvPr id="5137" name="Text Box 17"/>
          <p:cNvSpPr txBox="1">
            <a:spLocks noChangeArrowheads="1"/>
          </p:cNvSpPr>
          <p:nvPr/>
        </p:nvSpPr>
        <p:spPr bwMode="auto">
          <a:xfrm>
            <a:off x="2306638" y="5449888"/>
            <a:ext cx="3819525" cy="639762"/>
          </a:xfrm>
          <a:prstGeom prst="rect">
            <a:avLst/>
          </a:prstGeom>
          <a:noFill/>
          <a:ln w="9525">
            <a:noFill/>
            <a:miter lim="800000"/>
          </a:ln>
          <a:effectLst/>
        </p:spPr>
        <p:txBody>
          <a:bodyPr>
            <a:spAutoFit/>
          </a:bodyPr>
          <a:lstStyle/>
          <a:p>
            <a:r>
              <a:rPr lang="zh-CN" altLang="en-US" dirty="0">
                <a:solidFill>
                  <a:srgbClr val="FFFF00"/>
                </a:solidFill>
              </a:rPr>
              <a:t>FIGURE 17.5</a:t>
            </a:r>
            <a:r>
              <a:rPr lang="zh-CN" altLang="en-US" b="0" dirty="0">
                <a:solidFill>
                  <a:srgbClr val="FFFF00"/>
                </a:solidFill>
              </a:rPr>
              <a:t> Proposed program for solving the halting problem</a:t>
            </a:r>
            <a:endParaRPr lang="zh-CN" altLang="en-US" b="0" dirty="0">
              <a:solidFill>
                <a:srgbClr val="FFFF00"/>
              </a:solidFill>
            </a:endParaRPr>
          </a:p>
        </p:txBody>
      </p:sp>
      <p:sp>
        <p:nvSpPr>
          <p:cNvPr id="5138" name="AutoShape 18"/>
          <p:cNvSpPr>
            <a:spLocks noChangeArrowheads="1"/>
          </p:cNvSpPr>
          <p:nvPr/>
        </p:nvSpPr>
        <p:spPr bwMode="auto">
          <a:xfrm>
            <a:off x="444500" y="2573338"/>
            <a:ext cx="2339975" cy="1144587"/>
          </a:xfrm>
          <a:prstGeom prst="flowChartProcess">
            <a:avLst/>
          </a:prstGeom>
          <a:solidFill>
            <a:schemeClr val="accent1"/>
          </a:solidFill>
          <a:ln w="9525" cap="flat" cmpd="sng">
            <a:solidFill>
              <a:schemeClr val="tx1"/>
            </a:solidFill>
            <a:miter lim="800000"/>
          </a:ln>
          <a:effectLst/>
        </p:spPr>
        <p:txBody>
          <a:bodyPr wrap="none" anchor="ctr"/>
          <a:lstStyle/>
          <a:p>
            <a:pPr algn="ctr"/>
            <a:r>
              <a:rPr lang="zh-CN" altLang="en-US"/>
              <a:t>Program Example</a:t>
            </a:r>
            <a:endParaRPr lang="zh-CN" altLang="en-US"/>
          </a:p>
          <a:p>
            <a:pPr algn="ctr"/>
            <a:r>
              <a:rPr lang="zh-CN" altLang="en-US"/>
              <a:t>and</a:t>
            </a:r>
            <a:endParaRPr lang="zh-CN" altLang="en-US"/>
          </a:p>
          <a:p>
            <a:pPr algn="ctr"/>
            <a:r>
              <a:rPr lang="zh-CN" altLang="en-US"/>
              <a:t>SampleData</a:t>
            </a:r>
            <a:endParaRPr lang="zh-CN" altLang="en-US"/>
          </a:p>
        </p:txBody>
      </p:sp>
      <p:sp>
        <p:nvSpPr>
          <p:cNvPr id="5139" name="Rectangle 19"/>
          <p:cNvSpPr>
            <a:spLocks noChangeArrowheads="1"/>
          </p:cNvSpPr>
          <p:nvPr/>
        </p:nvSpPr>
        <p:spPr bwMode="auto">
          <a:xfrm>
            <a:off x="3187700" y="2889250"/>
            <a:ext cx="2952750" cy="504825"/>
          </a:xfrm>
          <a:prstGeom prst="rect">
            <a:avLst/>
          </a:prstGeom>
          <a:solidFill>
            <a:schemeClr val="accent1"/>
          </a:solidFill>
          <a:ln w="9525" cap="flat" cmpd="sng">
            <a:solidFill>
              <a:schemeClr val="tx1"/>
            </a:solidFill>
            <a:miter lim="800000"/>
          </a:ln>
          <a:effectLst/>
        </p:spPr>
        <p:txBody>
          <a:bodyPr wrap="none" anchor="ctr"/>
          <a:lstStyle/>
          <a:p>
            <a:pPr algn="ctr"/>
            <a:r>
              <a:rPr lang="zh-CN" altLang="en-US"/>
              <a:t>SolvesHaltingProblem</a:t>
            </a:r>
            <a:endParaRPr lang="zh-CN" altLang="en-US"/>
          </a:p>
        </p:txBody>
      </p:sp>
      <p:sp>
        <p:nvSpPr>
          <p:cNvPr id="5140" name="箭头 77"/>
          <p:cNvSpPr>
            <a:spLocks noChangeShapeType="1"/>
          </p:cNvSpPr>
          <p:nvPr/>
        </p:nvSpPr>
        <p:spPr bwMode="auto">
          <a:xfrm>
            <a:off x="2784475" y="3141663"/>
            <a:ext cx="403225" cy="0"/>
          </a:xfrm>
          <a:prstGeom prst="line">
            <a:avLst/>
          </a:prstGeom>
          <a:noFill/>
          <a:ln w="9525" cap="flat" cmpd="sng">
            <a:solidFill>
              <a:schemeClr val="tx1"/>
            </a:solidFill>
            <a:round/>
            <a:tailEnd type="triangle" w="med" len="med"/>
          </a:ln>
          <a:effectLst/>
        </p:spPr>
        <p:txBody>
          <a:bodyPr/>
          <a:lstStyle/>
          <a:p>
            <a:endParaRPr lang="zh-CN" altLang="en-US"/>
          </a:p>
        </p:txBody>
      </p:sp>
      <p:sp>
        <p:nvSpPr>
          <p:cNvPr id="5141" name="Rectangle 21"/>
          <p:cNvSpPr>
            <a:spLocks noChangeArrowheads="1"/>
          </p:cNvSpPr>
          <p:nvPr/>
        </p:nvSpPr>
        <p:spPr bwMode="auto">
          <a:xfrm>
            <a:off x="6788150" y="2559050"/>
            <a:ext cx="1657350" cy="1144588"/>
          </a:xfrm>
          <a:prstGeom prst="rect">
            <a:avLst/>
          </a:prstGeom>
          <a:solidFill>
            <a:schemeClr val="accent1"/>
          </a:solidFill>
          <a:ln w="9525" cap="flat" cmpd="sng">
            <a:solidFill>
              <a:schemeClr val="tx1"/>
            </a:solidFill>
            <a:miter lim="800000"/>
          </a:ln>
          <a:effectLst/>
        </p:spPr>
        <p:txBody>
          <a:bodyPr wrap="none" anchor="ctr"/>
          <a:lstStyle/>
          <a:p>
            <a:pPr algn="ctr"/>
            <a:r>
              <a:rPr lang="zh-CN" altLang="en-US"/>
              <a:t>"Halls"</a:t>
            </a:r>
            <a:endParaRPr lang="zh-CN" altLang="en-US"/>
          </a:p>
          <a:p>
            <a:pPr algn="ctr"/>
            <a:r>
              <a:rPr lang="zh-CN" altLang="en-US"/>
              <a:t>or</a:t>
            </a:r>
            <a:endParaRPr lang="zh-CN" altLang="en-US"/>
          </a:p>
          <a:p>
            <a:pPr algn="ctr"/>
            <a:r>
              <a:rPr lang="zh-CN" altLang="en-US"/>
              <a:t>"Loops"</a:t>
            </a:r>
            <a:endParaRPr lang="zh-CN" altLang="en-US" b="0"/>
          </a:p>
        </p:txBody>
      </p:sp>
      <p:sp>
        <p:nvSpPr>
          <p:cNvPr id="5142" name="箭头 78"/>
          <p:cNvSpPr>
            <a:spLocks noChangeShapeType="1"/>
          </p:cNvSpPr>
          <p:nvPr/>
        </p:nvSpPr>
        <p:spPr bwMode="auto">
          <a:xfrm>
            <a:off x="6140450" y="3125788"/>
            <a:ext cx="647700" cy="1587"/>
          </a:xfrm>
          <a:prstGeom prst="line">
            <a:avLst/>
          </a:prstGeom>
          <a:noFill/>
          <a:ln w="9525" cap="flat" cmpd="sng">
            <a:solidFill>
              <a:schemeClr val="tx1"/>
            </a:solidFill>
            <a:round/>
            <a:tailEnd type="triangle" w="med" len="med"/>
          </a:ln>
          <a:effectLst/>
        </p:spPr>
        <p:txBody>
          <a:bodyPr/>
          <a:lstStyle/>
          <a:p>
            <a:endParaRPr lang="zh-CN" altLang="en-US"/>
          </a:p>
        </p:txBody>
      </p:sp>
      <p:sp>
        <p:nvSpPr>
          <p:cNvPr id="5143" name="AutoShape 23"/>
          <p:cNvSpPr>
            <a:spLocks noChangeArrowheads="1"/>
          </p:cNvSpPr>
          <p:nvPr/>
        </p:nvSpPr>
        <p:spPr bwMode="auto">
          <a:xfrm>
            <a:off x="428625" y="2559050"/>
            <a:ext cx="2341563" cy="1144588"/>
          </a:xfrm>
          <a:prstGeom prst="flowChartProcess">
            <a:avLst/>
          </a:prstGeom>
          <a:solidFill>
            <a:schemeClr val="accent1"/>
          </a:solidFill>
          <a:ln w="9525" cap="flat" cmpd="sng">
            <a:solidFill>
              <a:schemeClr val="tx1"/>
            </a:solidFill>
            <a:miter lim="800000"/>
          </a:ln>
          <a:effectLst/>
        </p:spPr>
        <p:txBody>
          <a:bodyPr wrap="none" anchor="ctr"/>
          <a:lstStyle/>
          <a:p>
            <a:pPr algn="ctr"/>
            <a:r>
              <a:rPr lang="zh-CN" altLang="en-US"/>
              <a:t>Program Example</a:t>
            </a:r>
            <a:endParaRPr lang="zh-CN" altLang="en-US"/>
          </a:p>
          <a:p>
            <a:pPr algn="ctr"/>
            <a:r>
              <a:rPr lang="zh-CN" altLang="en-US"/>
              <a:t>and</a:t>
            </a:r>
            <a:endParaRPr lang="zh-CN" altLang="en-US"/>
          </a:p>
          <a:p>
            <a:pPr algn="ctr"/>
            <a:r>
              <a:rPr lang="zh-CN" altLang="en-US"/>
              <a:t>SampleData</a:t>
            </a:r>
            <a:endParaRPr lang="zh-CN" altLang="en-US"/>
          </a:p>
        </p:txBody>
      </p:sp>
      <p:sp>
        <p:nvSpPr>
          <p:cNvPr id="5144" name="Rectangle 24"/>
          <p:cNvSpPr>
            <a:spLocks noChangeArrowheads="1"/>
          </p:cNvSpPr>
          <p:nvPr/>
        </p:nvSpPr>
        <p:spPr bwMode="auto">
          <a:xfrm>
            <a:off x="3173413" y="2873375"/>
            <a:ext cx="2952750" cy="504825"/>
          </a:xfrm>
          <a:prstGeom prst="rect">
            <a:avLst/>
          </a:prstGeom>
          <a:solidFill>
            <a:schemeClr val="accent1"/>
          </a:solidFill>
          <a:ln w="9525" cap="flat" cmpd="sng">
            <a:solidFill>
              <a:schemeClr val="tx1"/>
            </a:solidFill>
            <a:miter lim="800000"/>
          </a:ln>
          <a:effectLst/>
        </p:spPr>
        <p:txBody>
          <a:bodyPr wrap="none" anchor="ctr"/>
          <a:lstStyle/>
          <a:p>
            <a:pPr algn="ctr"/>
            <a:r>
              <a:rPr lang="zh-CN" altLang="en-US"/>
              <a:t>SolvesHaltingProblem</a:t>
            </a:r>
            <a:endParaRPr lang="zh-CN" altLang="en-US"/>
          </a:p>
        </p:txBody>
      </p:sp>
      <p:sp>
        <p:nvSpPr>
          <p:cNvPr id="5145" name="箭头 77"/>
          <p:cNvSpPr>
            <a:spLocks noChangeShapeType="1"/>
          </p:cNvSpPr>
          <p:nvPr/>
        </p:nvSpPr>
        <p:spPr bwMode="auto">
          <a:xfrm>
            <a:off x="2770188" y="3125788"/>
            <a:ext cx="403225" cy="1587"/>
          </a:xfrm>
          <a:prstGeom prst="line">
            <a:avLst/>
          </a:prstGeom>
          <a:noFill/>
          <a:ln w="9525" cap="flat" cmpd="sng">
            <a:solidFill>
              <a:schemeClr val="tx1"/>
            </a:solidFill>
            <a:round/>
            <a:tailEnd type="triangle" w="med" len="med"/>
          </a:ln>
          <a:effectLst/>
        </p:spPr>
        <p:txBody>
          <a:bodyPr/>
          <a:lstStyle/>
          <a:p>
            <a:endParaRPr lang="zh-CN" altLang="en-US"/>
          </a:p>
        </p:txBody>
      </p:sp>
      <p:sp>
        <p:nvSpPr>
          <p:cNvPr id="5146" name="Text Box 26"/>
          <p:cNvSpPr txBox="1">
            <a:spLocks noChangeArrowheads="1"/>
          </p:cNvSpPr>
          <p:nvPr/>
        </p:nvSpPr>
        <p:spPr bwMode="auto">
          <a:xfrm>
            <a:off x="1004888" y="4240213"/>
            <a:ext cx="830262" cy="366712"/>
          </a:xfrm>
          <a:prstGeom prst="rect">
            <a:avLst/>
          </a:prstGeom>
          <a:noFill/>
          <a:ln w="9525">
            <a:noFill/>
            <a:miter lim="800000"/>
          </a:ln>
          <a:effectLst/>
        </p:spPr>
        <p:txBody>
          <a:bodyPr>
            <a:spAutoFit/>
          </a:bodyPr>
          <a:lstStyle/>
          <a:p>
            <a:r>
              <a:rPr lang="zh-CN" altLang="en-US">
                <a:solidFill>
                  <a:srgbClr val="66CCFF"/>
                </a:solidFill>
              </a:rPr>
              <a:t>Input</a:t>
            </a:r>
            <a:endParaRPr lang="zh-CN" altLang="en-US">
              <a:solidFill>
                <a:srgbClr val="66CCFF"/>
              </a:solidFill>
            </a:endParaRPr>
          </a:p>
        </p:txBody>
      </p:sp>
      <p:sp>
        <p:nvSpPr>
          <p:cNvPr id="5147" name="Text Box 27"/>
          <p:cNvSpPr txBox="1">
            <a:spLocks noChangeArrowheads="1"/>
          </p:cNvSpPr>
          <p:nvPr/>
        </p:nvSpPr>
        <p:spPr bwMode="auto">
          <a:xfrm>
            <a:off x="6837363" y="4302125"/>
            <a:ext cx="1263650" cy="365125"/>
          </a:xfrm>
          <a:prstGeom prst="rect">
            <a:avLst/>
          </a:prstGeom>
          <a:noFill/>
          <a:ln w="9525">
            <a:noFill/>
            <a:miter lim="800000"/>
          </a:ln>
          <a:effectLst/>
        </p:spPr>
        <p:txBody>
          <a:bodyPr>
            <a:spAutoFit/>
          </a:bodyPr>
          <a:lstStyle/>
          <a:p>
            <a:r>
              <a:rPr lang="zh-CN" altLang="en-US">
                <a:solidFill>
                  <a:srgbClr val="66CCFF"/>
                </a:solidFill>
              </a:rPr>
              <a:t>Output</a:t>
            </a:r>
            <a:endParaRPr lang="zh-CN" altLang="en-US">
              <a:solidFill>
                <a:srgbClr val="66CCFF"/>
              </a:solidFill>
            </a:endParaRPr>
          </a:p>
        </p:txBody>
      </p:sp>
      <p:sp>
        <p:nvSpPr>
          <p:cNvPr id="5148" name="Rectangle 28"/>
          <p:cNvSpPr>
            <a:spLocks noChangeArrowheads="1"/>
          </p:cNvSpPr>
          <p:nvPr/>
        </p:nvSpPr>
        <p:spPr bwMode="auto">
          <a:xfrm>
            <a:off x="6788150" y="2543175"/>
            <a:ext cx="1657350" cy="1144588"/>
          </a:xfrm>
          <a:prstGeom prst="rect">
            <a:avLst/>
          </a:prstGeom>
          <a:solidFill>
            <a:schemeClr val="accent1"/>
          </a:solidFill>
          <a:ln w="9525" cap="flat" cmpd="sng">
            <a:solidFill>
              <a:schemeClr val="tx1"/>
            </a:solidFill>
            <a:miter lim="800000"/>
          </a:ln>
          <a:effectLst/>
        </p:spPr>
        <p:txBody>
          <a:bodyPr wrap="none" anchor="ctr"/>
          <a:lstStyle/>
          <a:p>
            <a:pPr algn="ctr"/>
            <a:r>
              <a:rPr lang="zh-CN" altLang="en-US"/>
              <a:t>"Halls"</a:t>
            </a:r>
            <a:endParaRPr lang="zh-CN" altLang="en-US"/>
          </a:p>
          <a:p>
            <a:pPr algn="ctr"/>
            <a:r>
              <a:rPr lang="zh-CN" altLang="en-US"/>
              <a:t>or</a:t>
            </a:r>
            <a:endParaRPr lang="zh-CN" altLang="en-US"/>
          </a:p>
          <a:p>
            <a:pPr algn="ctr"/>
            <a:r>
              <a:rPr lang="zh-CN" altLang="en-US"/>
              <a:t>"Loops"</a:t>
            </a:r>
            <a:endParaRPr lang="zh-CN" altLang="en-US" b="0"/>
          </a:p>
        </p:txBody>
      </p:sp>
      <p:sp>
        <p:nvSpPr>
          <p:cNvPr id="5149" name="箭头 78"/>
          <p:cNvSpPr>
            <a:spLocks noChangeShapeType="1"/>
          </p:cNvSpPr>
          <p:nvPr/>
        </p:nvSpPr>
        <p:spPr bwMode="auto">
          <a:xfrm>
            <a:off x="6140450" y="3111500"/>
            <a:ext cx="647700" cy="0"/>
          </a:xfrm>
          <a:prstGeom prst="line">
            <a:avLst/>
          </a:prstGeom>
          <a:noFill/>
          <a:ln w="9525" cap="flat" cmpd="sng">
            <a:solidFill>
              <a:schemeClr val="tx1"/>
            </a:solidFill>
            <a:round/>
            <a:tailEnd type="triangle" w="med" len="med"/>
          </a:ln>
          <a:effectLst/>
        </p:spPr>
        <p:txBody>
          <a:bodyPr/>
          <a:lstStyle/>
          <a:p>
            <a:endParaRPr lang="zh-CN" altLang="en-US"/>
          </a:p>
        </p:txBody>
      </p:sp>
      <p:sp>
        <p:nvSpPr>
          <p:cNvPr id="5150" name="AutoShape 30"/>
          <p:cNvSpPr>
            <a:spLocks noChangeArrowheads="1"/>
          </p:cNvSpPr>
          <p:nvPr/>
        </p:nvSpPr>
        <p:spPr bwMode="auto">
          <a:xfrm>
            <a:off x="428625" y="2543175"/>
            <a:ext cx="2341563" cy="1144588"/>
          </a:xfrm>
          <a:prstGeom prst="flowChartProcess">
            <a:avLst/>
          </a:prstGeom>
          <a:solidFill>
            <a:schemeClr val="accent1"/>
          </a:solidFill>
          <a:ln w="9525" cap="flat" cmpd="sng">
            <a:solidFill>
              <a:schemeClr val="tx1"/>
            </a:solidFill>
            <a:miter lim="800000"/>
          </a:ln>
          <a:effectLst/>
        </p:spPr>
        <p:txBody>
          <a:bodyPr wrap="none" anchor="ctr"/>
          <a:lstStyle/>
          <a:p>
            <a:pPr algn="ctr"/>
            <a:r>
              <a:rPr lang="zh-CN" altLang="en-US"/>
              <a:t>Program Example</a:t>
            </a:r>
            <a:endParaRPr lang="zh-CN" altLang="en-US"/>
          </a:p>
          <a:p>
            <a:pPr algn="ctr"/>
            <a:r>
              <a:rPr lang="zh-CN" altLang="en-US"/>
              <a:t>and</a:t>
            </a:r>
            <a:endParaRPr lang="zh-CN" altLang="en-US"/>
          </a:p>
          <a:p>
            <a:pPr algn="ctr"/>
            <a:r>
              <a:rPr lang="zh-CN" altLang="en-US"/>
              <a:t>SampleData</a:t>
            </a:r>
            <a:endParaRPr lang="zh-CN" altLang="en-US"/>
          </a:p>
        </p:txBody>
      </p:sp>
      <p:sp>
        <p:nvSpPr>
          <p:cNvPr id="5151" name="Rectangle 31"/>
          <p:cNvSpPr>
            <a:spLocks noChangeArrowheads="1"/>
          </p:cNvSpPr>
          <p:nvPr/>
        </p:nvSpPr>
        <p:spPr bwMode="auto">
          <a:xfrm>
            <a:off x="3173413" y="2857500"/>
            <a:ext cx="2952750" cy="506413"/>
          </a:xfrm>
          <a:prstGeom prst="rect">
            <a:avLst/>
          </a:prstGeom>
          <a:solidFill>
            <a:schemeClr val="accent1"/>
          </a:solidFill>
          <a:ln w="9525" cap="flat" cmpd="sng">
            <a:solidFill>
              <a:schemeClr val="tx1"/>
            </a:solidFill>
            <a:miter lim="800000"/>
          </a:ln>
          <a:effectLst/>
        </p:spPr>
        <p:txBody>
          <a:bodyPr wrap="none" anchor="ctr"/>
          <a:lstStyle/>
          <a:p>
            <a:pPr algn="ctr"/>
            <a:r>
              <a:rPr lang="zh-CN" altLang="en-US" dirty="0"/>
              <a:t>SolvesHaltingProblem</a:t>
            </a:r>
            <a:endParaRPr lang="zh-CN" altLang="en-US" dirty="0"/>
          </a:p>
        </p:txBody>
      </p:sp>
      <p:sp>
        <p:nvSpPr>
          <p:cNvPr id="5152" name="箭头 77"/>
          <p:cNvSpPr>
            <a:spLocks noChangeShapeType="1"/>
          </p:cNvSpPr>
          <p:nvPr/>
        </p:nvSpPr>
        <p:spPr bwMode="auto">
          <a:xfrm>
            <a:off x="2770188" y="3111500"/>
            <a:ext cx="403225" cy="0"/>
          </a:xfrm>
          <a:prstGeom prst="line">
            <a:avLst/>
          </a:prstGeom>
          <a:noFill/>
          <a:ln w="9525" cap="flat" cmpd="sng">
            <a:solidFill>
              <a:schemeClr val="tx1"/>
            </a:solidFill>
            <a:round/>
            <a:tailEnd type="triangle" w="med" len="med"/>
          </a:ln>
          <a:effectLst/>
        </p:spPr>
        <p:txBody>
          <a:bodyPr/>
          <a:lstStyle/>
          <a:p>
            <a:endParaRPr lang="zh-CN" altLang="en-US"/>
          </a:p>
        </p:txBody>
      </p:sp>
      <p:sp>
        <p:nvSpPr>
          <p:cNvPr id="5153" name="Text Box 33"/>
          <p:cNvSpPr txBox="1">
            <a:spLocks noChangeArrowheads="1"/>
          </p:cNvSpPr>
          <p:nvPr/>
        </p:nvSpPr>
        <p:spPr bwMode="auto">
          <a:xfrm>
            <a:off x="3730625" y="4302125"/>
            <a:ext cx="1489075" cy="365125"/>
          </a:xfrm>
          <a:prstGeom prst="rect">
            <a:avLst/>
          </a:prstGeom>
          <a:noFill/>
          <a:ln w="9525" cmpd="sng">
            <a:noFill/>
            <a:miter lim="800000"/>
          </a:ln>
          <a:effectLst/>
        </p:spPr>
        <p:txBody>
          <a:bodyPr>
            <a:spAutoFit/>
          </a:bodyPr>
          <a:lstStyle/>
          <a:p>
            <a:r>
              <a:rPr lang="zh-CN" altLang="en-US">
                <a:solidFill>
                  <a:srgbClr val="66CCFF"/>
                </a:solidFill>
              </a:rPr>
              <a:t>Program</a:t>
            </a:r>
            <a:endParaRPr lang="zh-CN" altLang="en-US">
              <a:solidFill>
                <a:srgbClr val="66CCFF"/>
              </a:solidFill>
            </a:endParaRPr>
          </a:p>
        </p:txBody>
      </p:sp>
      <p:sp>
        <p:nvSpPr>
          <p:cNvPr id="5154" name="箭头 170"/>
          <p:cNvSpPr>
            <a:spLocks noChangeShapeType="1"/>
          </p:cNvSpPr>
          <p:nvPr/>
        </p:nvSpPr>
        <p:spPr bwMode="auto">
          <a:xfrm>
            <a:off x="2770188" y="3141663"/>
            <a:ext cx="403225" cy="1587"/>
          </a:xfrm>
          <a:prstGeom prst="line">
            <a:avLst/>
          </a:prstGeom>
          <a:noFill/>
          <a:ln w="9525" cmpd="sng">
            <a:solidFill>
              <a:schemeClr val="tx1"/>
            </a:solidFill>
            <a:round/>
            <a:tailEnd type="triangle" w="med" len="med"/>
          </a:ln>
          <a:effectLst/>
        </p:spPr>
        <p:txBody>
          <a:bodyPr/>
          <a:lstStyle/>
          <a:p>
            <a:endParaRPr lang="zh-CN" altLang="en-US"/>
          </a:p>
        </p:txBody>
      </p:sp>
      <p:sp>
        <p:nvSpPr>
          <p:cNvPr id="5155" name="AutoShape 35"/>
          <p:cNvSpPr>
            <a:spLocks noChangeArrowheads="1"/>
          </p:cNvSpPr>
          <p:nvPr/>
        </p:nvSpPr>
        <p:spPr bwMode="auto">
          <a:xfrm flipV="1">
            <a:off x="2770188" y="3141663"/>
            <a:ext cx="403225" cy="76200"/>
          </a:xfrm>
          <a:prstGeom prst="rightArrow">
            <a:avLst>
              <a:gd name="adj1" fmla="val 50000"/>
              <a:gd name="adj2" fmla="val 132292"/>
            </a:avLst>
          </a:prstGeom>
          <a:solidFill>
            <a:schemeClr val="accent1"/>
          </a:solidFill>
          <a:ln w="9525" cmpd="sng">
            <a:solidFill>
              <a:schemeClr val="tx1"/>
            </a:solidFill>
            <a:miter lim="800000"/>
          </a:ln>
          <a:effectLst/>
        </p:spPr>
        <p:txBody>
          <a:bodyPr anchor="ctr"/>
          <a:lstStyle/>
          <a:p>
            <a:endParaRPr lang="zh-CN" altLang="en-US"/>
          </a:p>
        </p:txBody>
      </p:sp>
      <p:sp>
        <p:nvSpPr>
          <p:cNvPr id="5156" name="AutoShape 36"/>
          <p:cNvSpPr>
            <a:spLocks noChangeArrowheads="1"/>
          </p:cNvSpPr>
          <p:nvPr/>
        </p:nvSpPr>
        <p:spPr bwMode="auto">
          <a:xfrm flipV="1">
            <a:off x="6156325" y="3067050"/>
            <a:ext cx="681038" cy="76200"/>
          </a:xfrm>
          <a:prstGeom prst="rightArrow">
            <a:avLst>
              <a:gd name="adj1" fmla="val 50000"/>
              <a:gd name="adj2" fmla="val 223438"/>
            </a:avLst>
          </a:prstGeom>
          <a:solidFill>
            <a:schemeClr val="accent1"/>
          </a:solidFill>
          <a:ln w="9525" cmpd="sng">
            <a:solidFill>
              <a:schemeClr val="tx1"/>
            </a:solidFill>
            <a:miter lim="800000"/>
          </a:ln>
          <a:effectLst/>
        </p:spPr>
        <p:txBody>
          <a:bodyPr anchor="ctr"/>
          <a:lstStyle/>
          <a:p>
            <a:endParaRPr lang="zh-CN" altLang="en-US"/>
          </a:p>
        </p:txBody>
      </p:sp>
    </p:spTree>
  </p:cSld>
  <p:clrMapOvr>
    <a:masterClrMapping/>
  </p:clrMapOvr>
  <p:transition>
    <p:dissolv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6" name="Group 2"/>
          <p:cNvGraphicFramePr>
            <a:graphicFrameLocks noGrp="1"/>
          </p:cNvGraphicFramePr>
          <p:nvPr/>
        </p:nvGraphicFramePr>
        <p:xfrm>
          <a:off x="179388" y="1917700"/>
          <a:ext cx="8713787" cy="3024188"/>
        </p:xfrm>
        <a:graphic>
          <a:graphicData uri="http://schemas.openxmlformats.org/drawingml/2006/table">
            <a:tbl>
              <a:tblPr/>
              <a:tblGrid>
                <a:gridCol w="8713787"/>
              </a:tblGrid>
              <a:tr h="3024188">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800" b="1" i="0" u="none" strike="noStrike" cap="none" normalizeH="0" baseline="0" smtClean="0">
                        <a:ln>
                          <a:noFill/>
                        </a:ln>
                        <a:effectLst/>
                        <a:latin typeface="Calibri" panose="020F050202020403020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6152" name="Text Box 8"/>
          <p:cNvSpPr txBox="1">
            <a:spLocks noChangeArrowheads="1"/>
          </p:cNvSpPr>
          <p:nvPr/>
        </p:nvSpPr>
        <p:spPr bwMode="auto">
          <a:xfrm>
            <a:off x="1160463" y="2206625"/>
            <a:ext cx="2765425" cy="365125"/>
          </a:xfrm>
          <a:prstGeom prst="rect">
            <a:avLst/>
          </a:prstGeom>
          <a:noFill/>
          <a:ln w="9525">
            <a:noFill/>
            <a:miter lim="800000"/>
          </a:ln>
          <a:effectLst/>
        </p:spPr>
        <p:txBody>
          <a:bodyPr>
            <a:spAutoFit/>
          </a:bodyPr>
          <a:lstStyle/>
          <a:p>
            <a:endParaRPr lang="zh-CN" altLang="zh-CN" b="0"/>
          </a:p>
        </p:txBody>
      </p:sp>
      <p:sp>
        <p:nvSpPr>
          <p:cNvPr id="6153" name="AutoShape 9"/>
          <p:cNvSpPr>
            <a:spLocks noChangeArrowheads="1"/>
          </p:cNvSpPr>
          <p:nvPr/>
        </p:nvSpPr>
        <p:spPr bwMode="auto">
          <a:xfrm>
            <a:off x="458788" y="2573338"/>
            <a:ext cx="2341562" cy="1144587"/>
          </a:xfrm>
          <a:prstGeom prst="flowChartProcess">
            <a:avLst/>
          </a:prstGeom>
          <a:solidFill>
            <a:schemeClr val="accent1"/>
          </a:solidFill>
          <a:ln w="9525" cap="flat" cmpd="sng">
            <a:solidFill>
              <a:schemeClr val="tx1"/>
            </a:solidFill>
            <a:miter lim="800000"/>
          </a:ln>
          <a:effectLst/>
        </p:spPr>
        <p:txBody>
          <a:bodyPr wrap="none" anchor="ctr"/>
          <a:lstStyle/>
          <a:p>
            <a:pPr algn="ctr"/>
            <a:r>
              <a:rPr lang="zh-CN" altLang="en-US"/>
              <a:t>Program Example</a:t>
            </a:r>
            <a:endParaRPr lang="zh-CN" altLang="en-US"/>
          </a:p>
          <a:p>
            <a:pPr algn="ctr"/>
            <a:r>
              <a:rPr lang="zh-CN" altLang="en-US"/>
              <a:t>and</a:t>
            </a:r>
            <a:endParaRPr lang="zh-CN" altLang="en-US"/>
          </a:p>
          <a:p>
            <a:pPr algn="ctr"/>
            <a:r>
              <a:rPr lang="zh-CN" altLang="en-US"/>
              <a:t>SampleData</a:t>
            </a:r>
            <a:endParaRPr lang="zh-CN" altLang="en-US"/>
          </a:p>
        </p:txBody>
      </p:sp>
      <p:sp>
        <p:nvSpPr>
          <p:cNvPr id="6154" name="Rectangle 10"/>
          <p:cNvSpPr>
            <a:spLocks noChangeArrowheads="1"/>
          </p:cNvSpPr>
          <p:nvPr/>
        </p:nvSpPr>
        <p:spPr bwMode="auto">
          <a:xfrm>
            <a:off x="3203575" y="2889250"/>
            <a:ext cx="2952750" cy="504825"/>
          </a:xfrm>
          <a:prstGeom prst="rect">
            <a:avLst/>
          </a:prstGeom>
          <a:solidFill>
            <a:schemeClr val="accent1"/>
          </a:solidFill>
          <a:ln w="9525" cap="flat" cmpd="sng">
            <a:solidFill>
              <a:schemeClr val="tx1"/>
            </a:solidFill>
            <a:miter lim="800000"/>
          </a:ln>
          <a:effectLst/>
        </p:spPr>
        <p:txBody>
          <a:bodyPr wrap="none" anchor="ctr"/>
          <a:lstStyle/>
          <a:p>
            <a:pPr algn="ctr"/>
            <a:r>
              <a:rPr lang="zh-CN" altLang="en-US"/>
              <a:t>SolvesHaltingProblem</a:t>
            </a:r>
            <a:endParaRPr lang="zh-CN" altLang="en-US"/>
          </a:p>
        </p:txBody>
      </p:sp>
      <p:sp>
        <p:nvSpPr>
          <p:cNvPr id="6155" name="Rectangle 11"/>
          <p:cNvSpPr>
            <a:spLocks noChangeArrowheads="1"/>
          </p:cNvSpPr>
          <p:nvPr/>
        </p:nvSpPr>
        <p:spPr bwMode="auto">
          <a:xfrm>
            <a:off x="6804025" y="2573338"/>
            <a:ext cx="1657350" cy="1144587"/>
          </a:xfrm>
          <a:prstGeom prst="rect">
            <a:avLst/>
          </a:prstGeom>
          <a:solidFill>
            <a:schemeClr val="accent1"/>
          </a:solidFill>
          <a:ln w="9525" cap="flat" cmpd="sng">
            <a:solidFill>
              <a:schemeClr val="tx1"/>
            </a:solidFill>
            <a:miter lim="800000"/>
          </a:ln>
          <a:effectLst/>
        </p:spPr>
        <p:txBody>
          <a:bodyPr wrap="none" anchor="ctr"/>
          <a:lstStyle/>
          <a:p>
            <a:pPr algn="ctr"/>
            <a:r>
              <a:rPr lang="zh-CN" altLang="en-US"/>
              <a:t>"Halls"</a:t>
            </a:r>
            <a:endParaRPr lang="zh-CN" altLang="en-US"/>
          </a:p>
          <a:p>
            <a:pPr algn="ctr"/>
            <a:r>
              <a:rPr lang="zh-CN" altLang="en-US"/>
              <a:t>or</a:t>
            </a:r>
            <a:endParaRPr lang="zh-CN" altLang="en-US"/>
          </a:p>
          <a:p>
            <a:pPr algn="ctr"/>
            <a:r>
              <a:rPr lang="zh-CN" altLang="en-US"/>
              <a:t>"Loops"</a:t>
            </a:r>
            <a:endParaRPr lang="zh-CN" altLang="en-US" b="0"/>
          </a:p>
        </p:txBody>
      </p:sp>
      <p:sp>
        <p:nvSpPr>
          <p:cNvPr id="6156" name="箭头 77"/>
          <p:cNvSpPr>
            <a:spLocks noChangeShapeType="1"/>
          </p:cNvSpPr>
          <p:nvPr/>
        </p:nvSpPr>
        <p:spPr bwMode="auto">
          <a:xfrm>
            <a:off x="2800350" y="3141663"/>
            <a:ext cx="403225" cy="0"/>
          </a:xfrm>
          <a:prstGeom prst="line">
            <a:avLst/>
          </a:prstGeom>
          <a:noFill/>
          <a:ln w="9525" cap="flat" cmpd="sng">
            <a:solidFill>
              <a:schemeClr val="tx1"/>
            </a:solidFill>
            <a:round/>
            <a:tailEnd type="triangle" w="med" len="med"/>
          </a:ln>
          <a:effectLst/>
        </p:spPr>
        <p:txBody>
          <a:bodyPr/>
          <a:lstStyle/>
          <a:p>
            <a:endParaRPr lang="zh-CN" altLang="en-US"/>
          </a:p>
        </p:txBody>
      </p:sp>
      <p:sp>
        <p:nvSpPr>
          <p:cNvPr id="6157" name="箭头 78"/>
          <p:cNvSpPr>
            <a:spLocks noChangeShapeType="1"/>
          </p:cNvSpPr>
          <p:nvPr/>
        </p:nvSpPr>
        <p:spPr bwMode="auto">
          <a:xfrm>
            <a:off x="6156325" y="3141663"/>
            <a:ext cx="647700" cy="0"/>
          </a:xfrm>
          <a:prstGeom prst="line">
            <a:avLst/>
          </a:prstGeom>
          <a:noFill/>
          <a:ln w="9525" cap="flat" cmpd="sng">
            <a:solidFill>
              <a:schemeClr val="tx1"/>
            </a:solidFill>
            <a:round/>
            <a:tailEnd type="triangle" w="med" len="med"/>
          </a:ln>
          <a:effectLst/>
        </p:spPr>
        <p:txBody>
          <a:bodyPr/>
          <a:lstStyle/>
          <a:p>
            <a:endParaRPr lang="zh-CN" altLang="en-US"/>
          </a:p>
        </p:txBody>
      </p:sp>
      <p:sp>
        <p:nvSpPr>
          <p:cNvPr id="6158" name="Text Box 14"/>
          <p:cNvSpPr txBox="1">
            <a:spLocks noChangeArrowheads="1"/>
          </p:cNvSpPr>
          <p:nvPr/>
        </p:nvSpPr>
        <p:spPr bwMode="auto">
          <a:xfrm>
            <a:off x="1004888" y="4256088"/>
            <a:ext cx="830262" cy="365125"/>
          </a:xfrm>
          <a:prstGeom prst="rect">
            <a:avLst/>
          </a:prstGeom>
          <a:noFill/>
          <a:ln w="9525">
            <a:noFill/>
            <a:miter lim="800000"/>
          </a:ln>
          <a:effectLst/>
        </p:spPr>
        <p:txBody>
          <a:bodyPr>
            <a:spAutoFit/>
          </a:bodyPr>
          <a:lstStyle/>
          <a:p>
            <a:r>
              <a:rPr lang="zh-CN" altLang="en-US">
                <a:solidFill>
                  <a:srgbClr val="66CCFF"/>
                </a:solidFill>
              </a:rPr>
              <a:t>Input</a:t>
            </a:r>
            <a:endParaRPr lang="zh-CN" altLang="en-US">
              <a:solidFill>
                <a:srgbClr val="66CCFF"/>
              </a:solidFill>
            </a:endParaRPr>
          </a:p>
        </p:txBody>
      </p:sp>
      <p:sp>
        <p:nvSpPr>
          <p:cNvPr id="6159" name="Text Box 15"/>
          <p:cNvSpPr txBox="1">
            <a:spLocks noChangeArrowheads="1"/>
          </p:cNvSpPr>
          <p:nvPr/>
        </p:nvSpPr>
        <p:spPr bwMode="auto">
          <a:xfrm>
            <a:off x="3608388" y="4256088"/>
            <a:ext cx="1395412" cy="365125"/>
          </a:xfrm>
          <a:prstGeom prst="rect">
            <a:avLst/>
          </a:prstGeom>
          <a:noFill/>
          <a:ln w="9525">
            <a:noFill/>
            <a:miter lim="800000"/>
          </a:ln>
          <a:effectLst/>
        </p:spPr>
        <p:txBody>
          <a:bodyPr>
            <a:spAutoFit/>
          </a:bodyPr>
          <a:lstStyle/>
          <a:p>
            <a:r>
              <a:rPr lang="zh-CN" altLang="en-US">
                <a:solidFill>
                  <a:srgbClr val="66CCFF"/>
                </a:solidFill>
              </a:rPr>
              <a:t>Program</a:t>
            </a:r>
            <a:endParaRPr lang="zh-CN" altLang="en-US">
              <a:solidFill>
                <a:srgbClr val="66CCFF"/>
              </a:solidFill>
            </a:endParaRPr>
          </a:p>
        </p:txBody>
      </p:sp>
      <p:sp>
        <p:nvSpPr>
          <p:cNvPr id="6160" name="Text Box 16"/>
          <p:cNvSpPr txBox="1">
            <a:spLocks noChangeArrowheads="1"/>
          </p:cNvSpPr>
          <p:nvPr/>
        </p:nvSpPr>
        <p:spPr bwMode="auto">
          <a:xfrm>
            <a:off x="6837363" y="4316413"/>
            <a:ext cx="1263650" cy="366712"/>
          </a:xfrm>
          <a:prstGeom prst="rect">
            <a:avLst/>
          </a:prstGeom>
          <a:noFill/>
          <a:ln w="9525">
            <a:noFill/>
            <a:miter lim="800000"/>
          </a:ln>
          <a:effectLst/>
        </p:spPr>
        <p:txBody>
          <a:bodyPr>
            <a:spAutoFit/>
          </a:bodyPr>
          <a:lstStyle/>
          <a:p>
            <a:r>
              <a:rPr lang="zh-CN" altLang="en-US">
                <a:solidFill>
                  <a:srgbClr val="66CCFF"/>
                </a:solidFill>
              </a:rPr>
              <a:t>Output</a:t>
            </a:r>
            <a:endParaRPr lang="zh-CN" altLang="en-US">
              <a:solidFill>
                <a:srgbClr val="66CCFF"/>
              </a:solidFill>
            </a:endParaRPr>
          </a:p>
        </p:txBody>
      </p:sp>
      <p:sp>
        <p:nvSpPr>
          <p:cNvPr id="6161" name="Text Box 17"/>
          <p:cNvSpPr txBox="1">
            <a:spLocks noChangeArrowheads="1"/>
          </p:cNvSpPr>
          <p:nvPr/>
        </p:nvSpPr>
        <p:spPr bwMode="auto">
          <a:xfrm>
            <a:off x="2306638" y="5449888"/>
            <a:ext cx="3819525" cy="639762"/>
          </a:xfrm>
          <a:prstGeom prst="rect">
            <a:avLst/>
          </a:prstGeom>
          <a:noFill/>
          <a:ln w="9525">
            <a:noFill/>
            <a:miter lim="800000"/>
          </a:ln>
          <a:effectLst/>
        </p:spPr>
        <p:txBody>
          <a:bodyPr>
            <a:spAutoFit/>
          </a:bodyPr>
          <a:lstStyle/>
          <a:p>
            <a:r>
              <a:rPr lang="zh-CN" altLang="en-US" dirty="0">
                <a:solidFill>
                  <a:srgbClr val="FFFF00"/>
                </a:solidFill>
              </a:rPr>
              <a:t>FIGURE 17.6</a:t>
            </a:r>
            <a:r>
              <a:rPr lang="zh-CN" altLang="en-US" b="0" dirty="0">
                <a:solidFill>
                  <a:srgbClr val="FFFF00"/>
                </a:solidFill>
              </a:rPr>
              <a:t> Proposed program for solving the halting problem</a:t>
            </a:r>
            <a:endParaRPr lang="zh-CN" altLang="en-US" b="0" dirty="0">
              <a:solidFill>
                <a:srgbClr val="FFFF00"/>
              </a:solidFill>
            </a:endParaRPr>
          </a:p>
        </p:txBody>
      </p:sp>
      <p:sp>
        <p:nvSpPr>
          <p:cNvPr id="6162" name="AutoShape 18"/>
          <p:cNvSpPr>
            <a:spLocks noChangeArrowheads="1"/>
          </p:cNvSpPr>
          <p:nvPr/>
        </p:nvSpPr>
        <p:spPr bwMode="auto">
          <a:xfrm>
            <a:off x="2800350" y="3141663"/>
            <a:ext cx="403225" cy="76200"/>
          </a:xfrm>
          <a:prstGeom prst="rightArrow">
            <a:avLst>
              <a:gd name="adj1" fmla="val 50000"/>
              <a:gd name="adj2" fmla="val 132292"/>
            </a:avLst>
          </a:prstGeom>
          <a:solidFill>
            <a:schemeClr val="accent1"/>
          </a:solidFill>
          <a:ln w="9525" cmpd="sng">
            <a:solidFill>
              <a:schemeClr val="tx1"/>
            </a:solidFill>
            <a:miter lim="800000"/>
          </a:ln>
          <a:effectLst/>
        </p:spPr>
        <p:txBody>
          <a:bodyPr anchor="ctr"/>
          <a:lstStyle/>
          <a:p>
            <a:endParaRPr lang="zh-CN" altLang="en-US"/>
          </a:p>
        </p:txBody>
      </p:sp>
      <p:sp>
        <p:nvSpPr>
          <p:cNvPr id="6163" name="箭头 175"/>
          <p:cNvSpPr>
            <a:spLocks noChangeShapeType="1"/>
          </p:cNvSpPr>
          <p:nvPr/>
        </p:nvSpPr>
        <p:spPr bwMode="auto">
          <a:xfrm>
            <a:off x="6156325" y="3141663"/>
            <a:ext cx="647700" cy="1587"/>
          </a:xfrm>
          <a:prstGeom prst="line">
            <a:avLst/>
          </a:prstGeom>
          <a:noFill/>
          <a:ln w="9525" cmpd="sng">
            <a:solidFill>
              <a:schemeClr val="tx1"/>
            </a:solidFill>
            <a:round/>
            <a:tailEnd type="triangle" w="med" len="med"/>
          </a:ln>
          <a:effectLst/>
        </p:spPr>
        <p:txBody>
          <a:bodyPr/>
          <a:lstStyle/>
          <a:p>
            <a:endParaRPr lang="zh-CN" altLang="en-US"/>
          </a:p>
        </p:txBody>
      </p:sp>
      <p:sp>
        <p:nvSpPr>
          <p:cNvPr id="6164" name="AutoShape 20"/>
          <p:cNvSpPr>
            <a:spLocks noChangeArrowheads="1"/>
          </p:cNvSpPr>
          <p:nvPr/>
        </p:nvSpPr>
        <p:spPr bwMode="auto">
          <a:xfrm>
            <a:off x="6126163" y="3143250"/>
            <a:ext cx="677862" cy="74613"/>
          </a:xfrm>
          <a:prstGeom prst="rightArrow">
            <a:avLst>
              <a:gd name="adj1" fmla="val 50000"/>
              <a:gd name="adj2" fmla="val 227126"/>
            </a:avLst>
          </a:prstGeom>
          <a:solidFill>
            <a:schemeClr val="accent1"/>
          </a:solidFill>
          <a:ln w="9525" cmpd="sng">
            <a:solidFill>
              <a:schemeClr val="tx1"/>
            </a:solidFill>
            <a:miter lim="800000"/>
          </a:ln>
          <a:effectLst/>
        </p:spPr>
        <p:txBody>
          <a:bodyPr anchor="ctr"/>
          <a:lstStyle/>
          <a:p>
            <a:endParaRPr lang="zh-CN" altLang="en-US"/>
          </a:p>
        </p:txBody>
      </p:sp>
    </p:spTree>
  </p:cSld>
  <p:clrMapOvr>
    <a:masterClrMapping/>
  </p:clrMapOvr>
  <p:transition>
    <p:dissolv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70" name="Group 2"/>
          <p:cNvGraphicFramePr>
            <a:graphicFrameLocks noGrp="1"/>
          </p:cNvGraphicFramePr>
          <p:nvPr/>
        </p:nvGraphicFramePr>
        <p:xfrm>
          <a:off x="-69850" y="1631950"/>
          <a:ext cx="9178925" cy="3313113"/>
        </p:xfrm>
        <a:graphic>
          <a:graphicData uri="http://schemas.openxmlformats.org/drawingml/2006/table">
            <a:tbl>
              <a:tblPr/>
              <a:tblGrid>
                <a:gridCol w="9178925"/>
              </a:tblGrid>
              <a:tr h="33131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800" b="1" i="0" u="none" strike="noStrike" cap="none" normalizeH="0" baseline="0" dirty="0" smtClean="0">
                        <a:ln>
                          <a:noFill/>
                        </a:ln>
                        <a:effectLst/>
                        <a:latin typeface="Calibri" panose="020F050202020403020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7176" name="Text Box 8"/>
          <p:cNvSpPr txBox="1">
            <a:spLocks noChangeArrowheads="1"/>
          </p:cNvSpPr>
          <p:nvPr/>
        </p:nvSpPr>
        <p:spPr bwMode="auto">
          <a:xfrm>
            <a:off x="1160463" y="2206625"/>
            <a:ext cx="2765425" cy="365125"/>
          </a:xfrm>
          <a:prstGeom prst="rect">
            <a:avLst/>
          </a:prstGeom>
          <a:noFill/>
          <a:ln w="9525">
            <a:noFill/>
            <a:miter lim="800000"/>
          </a:ln>
          <a:effectLst/>
        </p:spPr>
        <p:txBody>
          <a:bodyPr>
            <a:spAutoFit/>
          </a:bodyPr>
          <a:lstStyle/>
          <a:p>
            <a:endParaRPr lang="zh-CN" altLang="zh-CN" b="0"/>
          </a:p>
        </p:txBody>
      </p:sp>
      <p:sp>
        <p:nvSpPr>
          <p:cNvPr id="7177" name="AutoShape 9"/>
          <p:cNvSpPr>
            <a:spLocks noChangeArrowheads="1"/>
          </p:cNvSpPr>
          <p:nvPr/>
        </p:nvSpPr>
        <p:spPr bwMode="auto">
          <a:xfrm>
            <a:off x="460375" y="2206625"/>
            <a:ext cx="2341563" cy="1511300"/>
          </a:xfrm>
          <a:prstGeom prst="flowChartProcess">
            <a:avLst/>
          </a:prstGeom>
          <a:solidFill>
            <a:schemeClr val="accent1"/>
          </a:solidFill>
          <a:ln w="9525" cap="flat" cmpd="sng">
            <a:solidFill>
              <a:schemeClr val="tx1"/>
            </a:solidFill>
            <a:miter lim="800000"/>
          </a:ln>
          <a:effectLst/>
        </p:spPr>
        <p:txBody>
          <a:bodyPr wrap="none" anchor="ctr"/>
          <a:lstStyle/>
          <a:p>
            <a:pPr algn="ctr"/>
            <a:r>
              <a:rPr lang="zh-CN" altLang="en-US"/>
              <a:t>Program Example</a:t>
            </a:r>
            <a:endParaRPr lang="zh-CN" altLang="en-US"/>
          </a:p>
          <a:p>
            <a:pPr algn="ctr"/>
            <a:r>
              <a:rPr lang="zh-CN" altLang="en-US"/>
              <a:t>and</a:t>
            </a:r>
            <a:endParaRPr lang="zh-CN" altLang="en-US"/>
          </a:p>
          <a:p>
            <a:pPr algn="ctr"/>
            <a:r>
              <a:rPr lang="zh-CN" altLang="en-US"/>
              <a:t>SampleData</a:t>
            </a:r>
            <a:endParaRPr lang="zh-CN" altLang="en-US"/>
          </a:p>
        </p:txBody>
      </p:sp>
      <p:sp>
        <p:nvSpPr>
          <p:cNvPr id="7178" name="Rectangle 10"/>
          <p:cNvSpPr>
            <a:spLocks noChangeArrowheads="1"/>
          </p:cNvSpPr>
          <p:nvPr/>
        </p:nvSpPr>
        <p:spPr bwMode="auto">
          <a:xfrm>
            <a:off x="6516688" y="2571750"/>
            <a:ext cx="1293812" cy="855663"/>
          </a:xfrm>
          <a:prstGeom prst="rect">
            <a:avLst/>
          </a:prstGeom>
          <a:solidFill>
            <a:schemeClr val="accent1"/>
          </a:solidFill>
          <a:ln w="9525" cap="flat" cmpd="sng">
            <a:solidFill>
              <a:schemeClr val="tx1"/>
            </a:solidFill>
            <a:miter lim="800000"/>
          </a:ln>
          <a:effectLst/>
        </p:spPr>
        <p:txBody>
          <a:bodyPr wrap="none" anchor="ctr"/>
          <a:lstStyle/>
          <a:p>
            <a:pPr algn="ctr"/>
            <a:r>
              <a:rPr lang="zh-CN" altLang="en-US"/>
              <a:t>"Halls"</a:t>
            </a:r>
            <a:endParaRPr lang="zh-CN" altLang="en-US"/>
          </a:p>
          <a:p>
            <a:pPr algn="ctr"/>
            <a:r>
              <a:rPr lang="zh-CN" altLang="en-US"/>
              <a:t>"Loops"</a:t>
            </a:r>
            <a:endParaRPr lang="zh-CN" altLang="en-US" b="0"/>
          </a:p>
        </p:txBody>
      </p:sp>
      <p:sp>
        <p:nvSpPr>
          <p:cNvPr id="7179" name="Text Box 11"/>
          <p:cNvSpPr txBox="1">
            <a:spLocks noChangeArrowheads="1"/>
          </p:cNvSpPr>
          <p:nvPr/>
        </p:nvSpPr>
        <p:spPr bwMode="auto">
          <a:xfrm>
            <a:off x="1004888" y="4256088"/>
            <a:ext cx="830262" cy="365125"/>
          </a:xfrm>
          <a:prstGeom prst="rect">
            <a:avLst/>
          </a:prstGeom>
          <a:noFill/>
          <a:ln w="9525">
            <a:noFill/>
            <a:miter lim="800000"/>
          </a:ln>
          <a:effectLst/>
        </p:spPr>
        <p:txBody>
          <a:bodyPr>
            <a:spAutoFit/>
          </a:bodyPr>
          <a:lstStyle/>
          <a:p>
            <a:r>
              <a:rPr lang="zh-CN" altLang="en-US">
                <a:solidFill>
                  <a:schemeClr val="accent1"/>
                </a:solidFill>
              </a:rPr>
              <a:t>Input</a:t>
            </a:r>
            <a:endParaRPr lang="zh-CN" altLang="en-US">
              <a:solidFill>
                <a:schemeClr val="accent1"/>
              </a:solidFill>
            </a:endParaRPr>
          </a:p>
        </p:txBody>
      </p:sp>
      <p:sp>
        <p:nvSpPr>
          <p:cNvPr id="7180" name="Text Box 12"/>
          <p:cNvSpPr txBox="1">
            <a:spLocks noChangeArrowheads="1"/>
          </p:cNvSpPr>
          <p:nvPr/>
        </p:nvSpPr>
        <p:spPr bwMode="auto">
          <a:xfrm>
            <a:off x="3608388" y="4256088"/>
            <a:ext cx="1395412" cy="365125"/>
          </a:xfrm>
          <a:prstGeom prst="rect">
            <a:avLst/>
          </a:prstGeom>
          <a:noFill/>
          <a:ln w="9525">
            <a:noFill/>
            <a:miter lim="800000"/>
          </a:ln>
          <a:effectLst/>
        </p:spPr>
        <p:txBody>
          <a:bodyPr>
            <a:spAutoFit/>
          </a:bodyPr>
          <a:lstStyle/>
          <a:p>
            <a:r>
              <a:rPr lang="zh-CN" altLang="en-US">
                <a:solidFill>
                  <a:schemeClr val="accent1"/>
                </a:solidFill>
              </a:rPr>
              <a:t>Program</a:t>
            </a:r>
            <a:endParaRPr lang="zh-CN" altLang="en-US">
              <a:solidFill>
                <a:schemeClr val="accent1"/>
              </a:solidFill>
            </a:endParaRPr>
          </a:p>
        </p:txBody>
      </p:sp>
      <p:sp>
        <p:nvSpPr>
          <p:cNvPr id="7181" name="Text Box 13"/>
          <p:cNvSpPr txBox="1">
            <a:spLocks noChangeArrowheads="1"/>
          </p:cNvSpPr>
          <p:nvPr/>
        </p:nvSpPr>
        <p:spPr bwMode="auto">
          <a:xfrm>
            <a:off x="6838950" y="4256088"/>
            <a:ext cx="1693863" cy="639762"/>
          </a:xfrm>
          <a:prstGeom prst="rect">
            <a:avLst/>
          </a:prstGeom>
          <a:noFill/>
          <a:ln w="9525">
            <a:noFill/>
            <a:miter lim="800000"/>
          </a:ln>
          <a:effectLst/>
        </p:spPr>
        <p:txBody>
          <a:bodyPr>
            <a:spAutoFit/>
          </a:bodyPr>
          <a:lstStyle/>
          <a:p>
            <a:r>
              <a:rPr lang="zh-CN" altLang="en-US">
                <a:solidFill>
                  <a:schemeClr val="accent1"/>
                </a:solidFill>
              </a:rPr>
              <a:t>Output form </a:t>
            </a:r>
            <a:r>
              <a:rPr lang="zh-CN" altLang="en-US" b="0">
                <a:solidFill>
                  <a:schemeClr val="accent1"/>
                </a:solidFill>
              </a:rPr>
              <a:t>NewProgram</a:t>
            </a:r>
            <a:endParaRPr lang="zh-CN" altLang="en-US" b="0">
              <a:solidFill>
                <a:schemeClr val="accent1"/>
              </a:solidFill>
            </a:endParaRPr>
          </a:p>
        </p:txBody>
      </p:sp>
      <p:sp>
        <p:nvSpPr>
          <p:cNvPr id="7182" name="Oval 14"/>
          <p:cNvSpPr>
            <a:spLocks noChangeArrowheads="1"/>
          </p:cNvSpPr>
          <p:nvPr/>
        </p:nvSpPr>
        <p:spPr bwMode="auto">
          <a:xfrm>
            <a:off x="3203575" y="1928813"/>
            <a:ext cx="2946400" cy="2087562"/>
          </a:xfrm>
          <a:prstGeom prst="ellipse">
            <a:avLst/>
          </a:prstGeom>
          <a:solidFill>
            <a:schemeClr val="accent1"/>
          </a:solidFill>
          <a:ln w="9525" cmpd="sng">
            <a:solidFill>
              <a:schemeClr val="tx1"/>
            </a:solidFill>
            <a:round/>
          </a:ln>
          <a:effectLst/>
        </p:spPr>
        <p:txBody>
          <a:bodyPr wrap="none" anchor="ctr"/>
          <a:lstStyle/>
          <a:p>
            <a:pPr algn="ctr"/>
            <a:r>
              <a:rPr lang="zh-CN" altLang="en-US"/>
              <a:t>New Program uses</a:t>
            </a:r>
            <a:endParaRPr lang="zh-CN" altLang="en-US"/>
          </a:p>
          <a:p>
            <a:pPr algn="ctr"/>
            <a:r>
              <a:rPr lang="zh-CN" altLang="en-US"/>
              <a:t>algorithm for</a:t>
            </a:r>
            <a:endParaRPr lang="zh-CN" altLang="en-US"/>
          </a:p>
          <a:p>
            <a:pPr algn="ctr"/>
            <a:r>
              <a:rPr lang="zh-CN" altLang="en-US"/>
              <a:t>SolvesHaltingProblem</a:t>
            </a:r>
            <a:endParaRPr lang="zh-CN" altLang="en-US"/>
          </a:p>
          <a:p>
            <a:pPr algn="ctr"/>
            <a:r>
              <a:rPr lang="zh-CN" altLang="en-US"/>
              <a:t>to produce output</a:t>
            </a:r>
            <a:endParaRPr lang="zh-CN" altLang="en-US"/>
          </a:p>
        </p:txBody>
      </p:sp>
      <p:sp>
        <p:nvSpPr>
          <p:cNvPr id="7183" name="Rectangle 15"/>
          <p:cNvSpPr>
            <a:spLocks noChangeArrowheads="1"/>
          </p:cNvSpPr>
          <p:nvPr/>
        </p:nvSpPr>
        <p:spPr bwMode="auto">
          <a:xfrm>
            <a:off x="8101013" y="2781300"/>
            <a:ext cx="792162" cy="431800"/>
          </a:xfrm>
          <a:prstGeom prst="rect">
            <a:avLst/>
          </a:prstGeom>
          <a:solidFill>
            <a:schemeClr val="accent1"/>
          </a:solidFill>
          <a:ln w="9525" cmpd="sng">
            <a:solidFill>
              <a:schemeClr val="tx1"/>
            </a:solidFill>
            <a:miter lim="800000"/>
          </a:ln>
          <a:effectLst/>
        </p:spPr>
        <p:txBody>
          <a:bodyPr wrap="none" anchor="ctr"/>
          <a:lstStyle/>
          <a:p>
            <a:pPr algn="ctr"/>
            <a:r>
              <a:rPr lang="zh-CN" altLang="en-US"/>
              <a:t>"Halts"</a:t>
            </a:r>
            <a:endParaRPr lang="zh-CN" altLang="en-US"/>
          </a:p>
        </p:txBody>
      </p:sp>
      <p:sp>
        <p:nvSpPr>
          <p:cNvPr id="7184" name="Text Box 16"/>
          <p:cNvSpPr txBox="1">
            <a:spLocks noChangeArrowheads="1"/>
          </p:cNvSpPr>
          <p:nvPr/>
        </p:nvSpPr>
        <p:spPr bwMode="auto">
          <a:xfrm>
            <a:off x="4930775" y="4256088"/>
            <a:ext cx="1585913" cy="366712"/>
          </a:xfrm>
          <a:prstGeom prst="rect">
            <a:avLst/>
          </a:prstGeom>
          <a:noFill/>
          <a:ln w="9525">
            <a:noFill/>
            <a:miter lim="800000"/>
          </a:ln>
          <a:effectLst/>
        </p:spPr>
        <p:txBody>
          <a:bodyPr>
            <a:spAutoFit/>
          </a:bodyPr>
          <a:lstStyle/>
          <a:p>
            <a:r>
              <a:rPr lang="zh-CN" altLang="en-US" b="0">
                <a:solidFill>
                  <a:schemeClr val="accent1"/>
                </a:solidFill>
              </a:rPr>
              <a:t>Newprogram</a:t>
            </a:r>
            <a:endParaRPr lang="zh-CN" altLang="en-US" b="0">
              <a:solidFill>
                <a:schemeClr val="accent1"/>
              </a:solidFill>
            </a:endParaRPr>
          </a:p>
        </p:txBody>
      </p:sp>
      <p:sp>
        <p:nvSpPr>
          <p:cNvPr id="7185" name="箭头 139"/>
          <p:cNvSpPr>
            <a:spLocks noChangeShapeType="1"/>
          </p:cNvSpPr>
          <p:nvPr/>
        </p:nvSpPr>
        <p:spPr bwMode="auto">
          <a:xfrm>
            <a:off x="2801938" y="2997200"/>
            <a:ext cx="401637" cy="0"/>
          </a:xfrm>
          <a:prstGeom prst="line">
            <a:avLst/>
          </a:prstGeom>
          <a:noFill/>
          <a:ln w="9525" cmpd="sng">
            <a:solidFill>
              <a:schemeClr val="tx1"/>
            </a:solidFill>
            <a:round/>
            <a:tailEnd type="triangle" w="med" len="med"/>
          </a:ln>
          <a:effectLst/>
        </p:spPr>
        <p:txBody>
          <a:bodyPr/>
          <a:lstStyle/>
          <a:p>
            <a:endParaRPr lang="zh-CN" altLang="en-US"/>
          </a:p>
        </p:txBody>
      </p:sp>
      <p:sp>
        <p:nvSpPr>
          <p:cNvPr id="7186" name="箭头 140"/>
          <p:cNvSpPr>
            <a:spLocks noChangeShapeType="1"/>
          </p:cNvSpPr>
          <p:nvPr/>
        </p:nvSpPr>
        <p:spPr bwMode="auto">
          <a:xfrm>
            <a:off x="6149975" y="2997200"/>
            <a:ext cx="366713" cy="0"/>
          </a:xfrm>
          <a:prstGeom prst="line">
            <a:avLst/>
          </a:prstGeom>
          <a:noFill/>
          <a:ln w="9525" cmpd="sng">
            <a:solidFill>
              <a:schemeClr val="tx1"/>
            </a:solidFill>
            <a:round/>
            <a:tailEnd type="triangle" w="med" len="med"/>
          </a:ln>
          <a:effectLst/>
        </p:spPr>
        <p:txBody>
          <a:bodyPr/>
          <a:lstStyle/>
          <a:p>
            <a:endParaRPr lang="zh-CN" altLang="en-US"/>
          </a:p>
        </p:txBody>
      </p:sp>
      <p:sp>
        <p:nvSpPr>
          <p:cNvPr id="7187" name="箭头 141"/>
          <p:cNvSpPr>
            <a:spLocks noChangeShapeType="1"/>
          </p:cNvSpPr>
          <p:nvPr/>
        </p:nvSpPr>
        <p:spPr bwMode="auto">
          <a:xfrm>
            <a:off x="7810500" y="2997200"/>
            <a:ext cx="290513" cy="1588"/>
          </a:xfrm>
          <a:prstGeom prst="line">
            <a:avLst/>
          </a:prstGeom>
          <a:noFill/>
          <a:ln w="9525" cmpd="sng">
            <a:solidFill>
              <a:schemeClr val="tx1"/>
            </a:solidFill>
            <a:round/>
            <a:tailEnd type="triangle" w="med" len="med"/>
          </a:ln>
          <a:effectLst/>
        </p:spPr>
        <p:txBody>
          <a:bodyPr/>
          <a:lstStyle/>
          <a:p>
            <a:endParaRPr lang="zh-CN" altLang="en-US"/>
          </a:p>
        </p:txBody>
      </p:sp>
      <p:sp>
        <p:nvSpPr>
          <p:cNvPr id="7188" name="AutoShape 20"/>
          <p:cNvSpPr>
            <a:spLocks noChangeArrowheads="1"/>
          </p:cNvSpPr>
          <p:nvPr/>
        </p:nvSpPr>
        <p:spPr bwMode="auto">
          <a:xfrm flipH="1" flipV="1">
            <a:off x="7092950" y="1928813"/>
            <a:ext cx="503238" cy="852487"/>
          </a:xfrm>
          <a:prstGeom prst="curvedUpArrow">
            <a:avLst>
              <a:gd name="adj1" fmla="val 20000"/>
              <a:gd name="adj2" fmla="val 40000"/>
              <a:gd name="adj3" fmla="val 56467"/>
            </a:avLst>
          </a:prstGeom>
          <a:solidFill>
            <a:schemeClr val="accent1"/>
          </a:solidFill>
          <a:ln w="9525" cmpd="sng">
            <a:solidFill>
              <a:schemeClr val="tx1"/>
            </a:solidFill>
            <a:miter lim="800000"/>
          </a:ln>
          <a:effectLst/>
        </p:spPr>
        <p:txBody>
          <a:bodyPr anchor="ctr"/>
          <a:lstStyle/>
          <a:p>
            <a:endParaRPr lang="zh-CN" altLang="en-US"/>
          </a:p>
        </p:txBody>
      </p:sp>
      <p:sp>
        <p:nvSpPr>
          <p:cNvPr id="7189" name="Text Box 21"/>
          <p:cNvSpPr txBox="1">
            <a:spLocks noChangeArrowheads="1"/>
          </p:cNvSpPr>
          <p:nvPr/>
        </p:nvSpPr>
        <p:spPr bwMode="auto">
          <a:xfrm>
            <a:off x="2308225" y="5449888"/>
            <a:ext cx="4784725" cy="369332"/>
          </a:xfrm>
          <a:prstGeom prst="rect">
            <a:avLst/>
          </a:prstGeom>
          <a:noFill/>
          <a:ln w="9525">
            <a:noFill/>
            <a:miter lim="800000"/>
          </a:ln>
          <a:effectLst/>
        </p:spPr>
        <p:txBody>
          <a:bodyPr>
            <a:spAutoFit/>
          </a:bodyPr>
          <a:lstStyle/>
          <a:p>
            <a:r>
              <a:rPr lang="zh-CN" altLang="en-US" dirty="0">
                <a:solidFill>
                  <a:srgbClr val="FFFF00"/>
                </a:solidFill>
              </a:rPr>
              <a:t>FIGURE 17.7</a:t>
            </a:r>
            <a:r>
              <a:rPr lang="zh-CN" altLang="en-US" b="0" dirty="0">
                <a:solidFill>
                  <a:srgbClr val="FFFF00"/>
                </a:solidFill>
              </a:rPr>
              <a:t>Construction </a:t>
            </a:r>
            <a:r>
              <a:rPr lang="zh-CN" altLang="en-US" b="0" dirty="0" smtClean="0">
                <a:solidFill>
                  <a:srgbClr val="FFFF00"/>
                </a:solidFill>
              </a:rPr>
              <a:t> of  </a:t>
            </a:r>
            <a:r>
              <a:rPr lang="zh-CN" altLang="en-US" b="0" dirty="0">
                <a:solidFill>
                  <a:srgbClr val="FFFF00"/>
                </a:solidFill>
              </a:rPr>
              <a:t>NewProgram</a:t>
            </a:r>
            <a:endParaRPr lang="zh-CN" altLang="en-US" b="0" dirty="0">
              <a:solidFill>
                <a:srgbClr val="FFFF00"/>
              </a:solidFill>
            </a:endParaRPr>
          </a:p>
        </p:txBody>
      </p:sp>
      <p:sp>
        <p:nvSpPr>
          <p:cNvPr id="7190" name="AutoShape 22"/>
          <p:cNvSpPr>
            <a:spLocks noChangeArrowheads="1"/>
          </p:cNvSpPr>
          <p:nvPr/>
        </p:nvSpPr>
        <p:spPr bwMode="auto">
          <a:xfrm flipV="1">
            <a:off x="2801938" y="2997200"/>
            <a:ext cx="401637" cy="76200"/>
          </a:xfrm>
          <a:prstGeom prst="rightArrow">
            <a:avLst>
              <a:gd name="adj1" fmla="val 50000"/>
              <a:gd name="adj2" fmla="val 131771"/>
            </a:avLst>
          </a:prstGeom>
          <a:solidFill>
            <a:schemeClr val="accent1"/>
          </a:solidFill>
          <a:ln w="9525" cmpd="sng">
            <a:solidFill>
              <a:schemeClr val="tx1"/>
            </a:solidFill>
            <a:miter lim="800000"/>
          </a:ln>
          <a:effectLst/>
        </p:spPr>
        <p:txBody>
          <a:bodyPr anchor="ctr"/>
          <a:lstStyle/>
          <a:p>
            <a:endParaRPr lang="zh-CN" altLang="en-US"/>
          </a:p>
        </p:txBody>
      </p:sp>
      <p:sp>
        <p:nvSpPr>
          <p:cNvPr id="7191" name="AutoShape 23"/>
          <p:cNvSpPr>
            <a:spLocks noChangeArrowheads="1"/>
          </p:cNvSpPr>
          <p:nvPr/>
        </p:nvSpPr>
        <p:spPr bwMode="auto">
          <a:xfrm>
            <a:off x="6149975" y="2998788"/>
            <a:ext cx="366713" cy="76200"/>
          </a:xfrm>
          <a:prstGeom prst="rightArrow">
            <a:avLst>
              <a:gd name="adj1" fmla="val 50000"/>
              <a:gd name="adj2" fmla="val 120313"/>
            </a:avLst>
          </a:prstGeom>
          <a:solidFill>
            <a:schemeClr val="accent1"/>
          </a:solidFill>
          <a:ln w="9525" cmpd="sng">
            <a:solidFill>
              <a:schemeClr val="tx1"/>
            </a:solidFill>
            <a:miter lim="800000"/>
          </a:ln>
          <a:effectLst/>
        </p:spPr>
        <p:txBody>
          <a:bodyPr anchor="ctr"/>
          <a:lstStyle/>
          <a:p>
            <a:endParaRPr lang="zh-CN" altLang="en-US"/>
          </a:p>
        </p:txBody>
      </p:sp>
      <p:sp>
        <p:nvSpPr>
          <p:cNvPr id="7192" name="AutoShape 24"/>
          <p:cNvSpPr>
            <a:spLocks noChangeArrowheads="1"/>
          </p:cNvSpPr>
          <p:nvPr/>
        </p:nvSpPr>
        <p:spPr bwMode="auto">
          <a:xfrm flipV="1">
            <a:off x="7810500" y="3073400"/>
            <a:ext cx="290513" cy="74613"/>
          </a:xfrm>
          <a:prstGeom prst="rightArrow">
            <a:avLst>
              <a:gd name="adj1" fmla="val 50000"/>
              <a:gd name="adj2" fmla="val 97340"/>
            </a:avLst>
          </a:prstGeom>
          <a:solidFill>
            <a:schemeClr val="accent1"/>
          </a:solidFill>
          <a:ln w="9525" cmpd="sng">
            <a:solidFill>
              <a:schemeClr val="tx1"/>
            </a:solidFill>
            <a:miter lim="800000"/>
          </a:ln>
          <a:effectLst/>
        </p:spPr>
        <p:txBody>
          <a:bodyPr anchor="ctr"/>
          <a:lstStyle/>
          <a:p>
            <a:endParaRPr lang="zh-CN" altLang="en-US"/>
          </a:p>
        </p:txBody>
      </p:sp>
    </p:spTree>
  </p:cSld>
  <p:clrMapOvr>
    <a:masterClrMapping/>
  </p:clrMapOvr>
  <p:transition>
    <p:dissolv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zh-CN" altLang="en-US">
                <a:solidFill>
                  <a:schemeClr val="bg1"/>
                </a:solidFill>
              </a:rPr>
              <a:t>Classification of Algorithms</a:t>
            </a:r>
            <a:endParaRPr lang="zh-CN" altLang="en-US">
              <a:solidFill>
                <a:schemeClr val="bg1"/>
              </a:solidFill>
            </a:endParaRPr>
          </a:p>
        </p:txBody>
      </p:sp>
      <p:sp>
        <p:nvSpPr>
          <p:cNvPr id="8195" name="Rectangle 3"/>
          <p:cNvSpPr>
            <a:spLocks noGrp="1" noChangeArrowheads="1"/>
          </p:cNvSpPr>
          <p:nvPr>
            <p:ph idx="1"/>
          </p:nvPr>
        </p:nvSpPr>
        <p:spPr>
          <a:xfrm>
            <a:off x="457200" y="1419225"/>
            <a:ext cx="8229600" cy="4962525"/>
          </a:xfrm>
        </p:spPr>
        <p:txBody>
          <a:bodyPr/>
          <a:lstStyle/>
          <a:p>
            <a:r>
              <a:rPr lang="zh-CN" altLang="en-US" b="1">
                <a:solidFill>
                  <a:srgbClr val="66FFFF"/>
                </a:solidFill>
              </a:rPr>
              <a:t>Class  p problems</a:t>
            </a:r>
            <a:r>
              <a:rPr lang="zh-CN" altLang="en-US" b="1">
                <a:solidFill>
                  <a:srgbClr val="FFFF00"/>
                </a:solidFill>
              </a:rPr>
              <a:t> </a:t>
            </a:r>
            <a:r>
              <a:rPr lang="zh-CN" altLang="en-US" sz="2800">
                <a:solidFill>
                  <a:srgbClr val="FFFF00"/>
                </a:solidFill>
              </a:rPr>
              <a:t>p</a:t>
            </a:r>
            <a:r>
              <a:rPr lang="zh-CN" altLang="en-US" sz="2800">
                <a:solidFill>
                  <a:srgbClr val="FFFF00"/>
                </a:solidFill>
                <a:sym typeface="Arial" panose="020B0604020202020204" pitchFamily="34" charset="0"/>
              </a:rPr>
              <a:t>r</a:t>
            </a:r>
            <a:r>
              <a:rPr lang="zh-CN" altLang="en-US" sz="2800">
                <a:solidFill>
                  <a:srgbClr val="FFFF00"/>
                </a:solidFill>
              </a:rPr>
              <a:t>oblems that can be  solved with one processor in polynomial time</a:t>
            </a:r>
            <a:endParaRPr lang="zh-CN" altLang="en-US" sz="2800">
              <a:solidFill>
                <a:srgbClr val="FFFF00"/>
              </a:solidFill>
            </a:endParaRPr>
          </a:p>
          <a:p>
            <a:r>
              <a:rPr lang="zh-CN" altLang="en-US" b="1">
                <a:solidFill>
                  <a:srgbClr val="66FFFF"/>
                </a:solidFill>
              </a:rPr>
              <a:t>Class NP problems</a:t>
            </a:r>
            <a:r>
              <a:rPr lang="zh-CN" altLang="en-US" b="1">
                <a:solidFill>
                  <a:srgbClr val="FFFF00"/>
                </a:solidFill>
              </a:rPr>
              <a:t> </a:t>
            </a:r>
            <a:r>
              <a:rPr lang="zh-CN" altLang="en-US" sz="2800">
                <a:solidFill>
                  <a:srgbClr val="FFFF00"/>
                </a:solidFill>
                <a:sym typeface="Arial" panose="020B0604020202020204" pitchFamily="34" charset="0"/>
              </a:rPr>
              <a:t>pr</a:t>
            </a:r>
            <a:r>
              <a:rPr lang="zh-CN" altLang="en-US" sz="2800">
                <a:solidFill>
                  <a:srgbClr val="FFFF00"/>
                </a:solidFill>
              </a:rPr>
              <a:t>oblems that can be  solved in polynomial time with as many processors as desired</a:t>
            </a:r>
            <a:endParaRPr lang="zh-CN" altLang="en-US" sz="2800">
              <a:solidFill>
                <a:srgbClr val="FFFF00"/>
              </a:solidFill>
            </a:endParaRPr>
          </a:p>
          <a:p>
            <a:r>
              <a:rPr lang="zh-CN" altLang="en-US" b="1">
                <a:solidFill>
                  <a:srgbClr val="66FFFF"/>
                </a:solidFill>
              </a:rPr>
              <a:t>NP-complete problems</a:t>
            </a:r>
            <a:r>
              <a:rPr lang="zh-CN" altLang="en-US">
                <a:solidFill>
                  <a:srgbClr val="FFFF00"/>
                </a:solidFill>
              </a:rPr>
              <a:t> </a:t>
            </a:r>
            <a:r>
              <a:rPr lang="zh-CN" altLang="en-US" sz="2800">
                <a:solidFill>
                  <a:srgbClr val="FFFF00"/>
                </a:solidFill>
              </a:rPr>
              <a:t>A class of problems witnin Class NP that has the property that if a polynomial time solution with one processor can be found for  any member of class,such a solution exists for every member of the class</a:t>
            </a:r>
            <a:endParaRPr lang="zh-CN" altLang="en-US" sz="2800">
              <a:solidFill>
                <a:srgbClr val="FFFF00"/>
              </a:solidFill>
            </a:endParaRPr>
          </a:p>
          <a:p>
            <a:pPr>
              <a:buFontTx/>
              <a:buNone/>
            </a:pPr>
            <a:endParaRPr lang="zh-CN" altLang="en-US" sz="2800">
              <a:solidFill>
                <a:srgbClr val="FFFF00"/>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AutoShape 2"/>
          <p:cNvSpPr>
            <a:spLocks noChangeArrowheads="1"/>
          </p:cNvSpPr>
          <p:nvPr/>
        </p:nvSpPr>
        <p:spPr bwMode="auto">
          <a:xfrm>
            <a:off x="2052638" y="3357563"/>
            <a:ext cx="1008062" cy="1871662"/>
          </a:xfrm>
          <a:prstGeom prst="can">
            <a:avLst>
              <a:gd name="adj" fmla="val 46417"/>
            </a:avLst>
          </a:prstGeom>
          <a:solidFill>
            <a:schemeClr val="accent1"/>
          </a:solidFill>
          <a:ln w="9525" cmpd="sng">
            <a:solidFill>
              <a:schemeClr val="tx1"/>
            </a:solidFill>
            <a:round/>
          </a:ln>
          <a:effectLst/>
        </p:spPr>
        <p:txBody>
          <a:bodyPr anchor="ctr"/>
          <a:lstStyle/>
          <a:p>
            <a:endParaRPr lang="zh-CN" altLang="en-US"/>
          </a:p>
        </p:txBody>
      </p:sp>
      <p:sp>
        <p:nvSpPr>
          <p:cNvPr id="9219" name="AutoShape 3"/>
          <p:cNvSpPr>
            <a:spLocks noChangeArrowheads="1"/>
          </p:cNvSpPr>
          <p:nvPr/>
        </p:nvSpPr>
        <p:spPr bwMode="auto">
          <a:xfrm>
            <a:off x="3779838" y="3357563"/>
            <a:ext cx="1081087" cy="1871662"/>
          </a:xfrm>
          <a:prstGeom prst="can">
            <a:avLst>
              <a:gd name="adj" fmla="val 43282"/>
            </a:avLst>
          </a:prstGeom>
          <a:solidFill>
            <a:schemeClr val="accent1"/>
          </a:solidFill>
          <a:ln w="9525" cmpd="sng">
            <a:solidFill>
              <a:schemeClr val="tx1"/>
            </a:solidFill>
            <a:round/>
          </a:ln>
          <a:effectLst/>
        </p:spPr>
        <p:txBody>
          <a:bodyPr anchor="ctr"/>
          <a:lstStyle/>
          <a:p>
            <a:endParaRPr lang="zh-CN" altLang="en-US"/>
          </a:p>
        </p:txBody>
      </p:sp>
      <p:sp>
        <p:nvSpPr>
          <p:cNvPr id="9220" name="AutoShape 4"/>
          <p:cNvSpPr>
            <a:spLocks noChangeArrowheads="1"/>
          </p:cNvSpPr>
          <p:nvPr/>
        </p:nvSpPr>
        <p:spPr bwMode="auto">
          <a:xfrm>
            <a:off x="5581650" y="3357563"/>
            <a:ext cx="1079500" cy="1871662"/>
          </a:xfrm>
          <a:prstGeom prst="can">
            <a:avLst>
              <a:gd name="adj" fmla="val 43346"/>
            </a:avLst>
          </a:prstGeom>
          <a:solidFill>
            <a:schemeClr val="accent1"/>
          </a:solidFill>
          <a:ln w="9525" cmpd="sng">
            <a:solidFill>
              <a:schemeClr val="tx1"/>
            </a:solidFill>
            <a:round/>
          </a:ln>
          <a:effectLst/>
        </p:spPr>
        <p:txBody>
          <a:bodyPr anchor="ctr"/>
          <a:lstStyle/>
          <a:p>
            <a:endParaRPr lang="zh-CN" altLang="en-US"/>
          </a:p>
        </p:txBody>
      </p:sp>
      <p:sp>
        <p:nvSpPr>
          <p:cNvPr id="9221" name="Text Box 5"/>
          <p:cNvSpPr txBox="1">
            <a:spLocks noChangeArrowheads="1"/>
          </p:cNvSpPr>
          <p:nvPr/>
        </p:nvSpPr>
        <p:spPr bwMode="auto">
          <a:xfrm>
            <a:off x="1984375" y="2159000"/>
            <a:ext cx="1147763" cy="365125"/>
          </a:xfrm>
          <a:prstGeom prst="rect">
            <a:avLst/>
          </a:prstGeom>
          <a:noFill/>
          <a:ln w="9525">
            <a:noFill/>
            <a:miter lim="800000"/>
          </a:ln>
          <a:effectLst/>
        </p:spPr>
        <p:txBody>
          <a:bodyPr>
            <a:spAutoFit/>
          </a:bodyPr>
          <a:lstStyle/>
          <a:p>
            <a:r>
              <a:rPr lang="zh-CN" altLang="en-US">
                <a:solidFill>
                  <a:srgbClr val="FFFF00"/>
                </a:solidFill>
              </a:rPr>
              <a:t>Class p</a:t>
            </a:r>
            <a:endParaRPr lang="zh-CN" altLang="en-US">
              <a:solidFill>
                <a:srgbClr val="FFFF00"/>
              </a:solidFill>
            </a:endParaRPr>
          </a:p>
        </p:txBody>
      </p:sp>
      <p:sp>
        <p:nvSpPr>
          <p:cNvPr id="9222" name="Text Box 6"/>
          <p:cNvSpPr txBox="1">
            <a:spLocks noChangeArrowheads="1"/>
          </p:cNvSpPr>
          <p:nvPr/>
        </p:nvSpPr>
        <p:spPr bwMode="auto">
          <a:xfrm>
            <a:off x="3606800" y="2159000"/>
            <a:ext cx="1073150" cy="365125"/>
          </a:xfrm>
          <a:prstGeom prst="rect">
            <a:avLst/>
          </a:prstGeom>
          <a:noFill/>
          <a:ln w="9525">
            <a:noFill/>
            <a:miter lim="800000"/>
          </a:ln>
          <a:effectLst/>
        </p:spPr>
        <p:txBody>
          <a:bodyPr>
            <a:spAutoFit/>
          </a:bodyPr>
          <a:lstStyle/>
          <a:p>
            <a:endParaRPr lang="zh-CN" altLang="zh-CN" b="0"/>
          </a:p>
        </p:txBody>
      </p:sp>
      <p:sp>
        <p:nvSpPr>
          <p:cNvPr id="9223" name="Text Box 7"/>
          <p:cNvSpPr txBox="1">
            <a:spLocks noChangeArrowheads="1"/>
          </p:cNvSpPr>
          <p:nvPr/>
        </p:nvSpPr>
        <p:spPr bwMode="auto">
          <a:xfrm>
            <a:off x="3419475" y="2235200"/>
            <a:ext cx="1657350" cy="914400"/>
          </a:xfrm>
          <a:prstGeom prst="rect">
            <a:avLst/>
          </a:prstGeom>
          <a:noFill/>
          <a:ln w="9525">
            <a:noFill/>
            <a:miter lim="800000"/>
          </a:ln>
          <a:effectLst/>
        </p:spPr>
        <p:txBody>
          <a:bodyPr>
            <a:spAutoFit/>
          </a:bodyPr>
          <a:lstStyle/>
          <a:p>
            <a:r>
              <a:rPr lang="zh-CN" altLang="en-US">
                <a:solidFill>
                  <a:srgbClr val="FFFF00"/>
                </a:solidFill>
              </a:rPr>
              <a:t>Exponential Factorial</a:t>
            </a:r>
            <a:endParaRPr lang="zh-CN" altLang="en-US">
              <a:solidFill>
                <a:srgbClr val="FFFF00"/>
              </a:solidFill>
            </a:endParaRPr>
          </a:p>
          <a:p>
            <a:endParaRPr lang="zh-CN" altLang="en-US">
              <a:solidFill>
                <a:srgbClr val="FFFF00"/>
              </a:solidFill>
            </a:endParaRPr>
          </a:p>
        </p:txBody>
      </p:sp>
      <p:sp>
        <p:nvSpPr>
          <p:cNvPr id="9224" name="Text Box 8"/>
          <p:cNvSpPr txBox="1">
            <a:spLocks noChangeArrowheads="1"/>
          </p:cNvSpPr>
          <p:nvPr/>
        </p:nvSpPr>
        <p:spPr bwMode="auto">
          <a:xfrm>
            <a:off x="5184775" y="2281238"/>
            <a:ext cx="1476375" cy="365125"/>
          </a:xfrm>
          <a:prstGeom prst="rect">
            <a:avLst/>
          </a:prstGeom>
          <a:noFill/>
          <a:ln w="9525">
            <a:noFill/>
            <a:miter lim="800000"/>
          </a:ln>
          <a:effectLst/>
        </p:spPr>
        <p:txBody>
          <a:bodyPr>
            <a:spAutoFit/>
          </a:bodyPr>
          <a:lstStyle/>
          <a:p>
            <a:r>
              <a:rPr lang="zh-CN" altLang="en-US">
                <a:solidFill>
                  <a:srgbClr val="FFFF00"/>
                </a:solidFill>
              </a:rPr>
              <a:t>Unsolvable</a:t>
            </a:r>
            <a:endParaRPr lang="zh-CN" altLang="en-US">
              <a:solidFill>
                <a:srgbClr val="FFFF00"/>
              </a:solidFill>
            </a:endParaRPr>
          </a:p>
        </p:txBody>
      </p:sp>
      <p:sp>
        <p:nvSpPr>
          <p:cNvPr id="9225" name="箭头 182"/>
          <p:cNvSpPr>
            <a:spLocks noChangeShapeType="1"/>
          </p:cNvSpPr>
          <p:nvPr/>
        </p:nvSpPr>
        <p:spPr bwMode="auto">
          <a:xfrm>
            <a:off x="4283075" y="2854325"/>
            <a:ext cx="1588" cy="503238"/>
          </a:xfrm>
          <a:prstGeom prst="line">
            <a:avLst/>
          </a:prstGeom>
          <a:noFill/>
          <a:ln w="9525" cmpd="sng">
            <a:solidFill>
              <a:schemeClr val="tx1"/>
            </a:solidFill>
            <a:round/>
            <a:tailEnd type="triangle" w="med" len="med"/>
          </a:ln>
          <a:effectLst/>
        </p:spPr>
        <p:txBody>
          <a:bodyPr/>
          <a:lstStyle/>
          <a:p>
            <a:endParaRPr lang="zh-CN" altLang="en-US"/>
          </a:p>
        </p:txBody>
      </p:sp>
      <p:sp>
        <p:nvSpPr>
          <p:cNvPr id="9226" name="箭头 184"/>
          <p:cNvSpPr>
            <a:spLocks noChangeShapeType="1"/>
          </p:cNvSpPr>
          <p:nvPr/>
        </p:nvSpPr>
        <p:spPr bwMode="auto">
          <a:xfrm>
            <a:off x="6083300" y="2646363"/>
            <a:ext cx="1588" cy="627062"/>
          </a:xfrm>
          <a:prstGeom prst="line">
            <a:avLst/>
          </a:prstGeom>
          <a:noFill/>
          <a:ln w="9525" cmpd="sng">
            <a:solidFill>
              <a:schemeClr val="tx1"/>
            </a:solidFill>
            <a:round/>
            <a:tailEnd type="triangle" w="med" len="med"/>
          </a:ln>
          <a:effectLst/>
        </p:spPr>
        <p:txBody>
          <a:bodyPr/>
          <a:lstStyle/>
          <a:p>
            <a:endParaRPr lang="zh-CN" altLang="en-US"/>
          </a:p>
        </p:txBody>
      </p:sp>
      <p:sp>
        <p:nvSpPr>
          <p:cNvPr id="9227" name="箭头 185"/>
          <p:cNvSpPr>
            <a:spLocks noChangeShapeType="1"/>
          </p:cNvSpPr>
          <p:nvPr/>
        </p:nvSpPr>
        <p:spPr bwMode="auto">
          <a:xfrm>
            <a:off x="2555875" y="2524125"/>
            <a:ext cx="0" cy="749300"/>
          </a:xfrm>
          <a:prstGeom prst="line">
            <a:avLst/>
          </a:prstGeom>
          <a:noFill/>
          <a:ln w="9525" cmpd="sng">
            <a:solidFill>
              <a:schemeClr val="tx1"/>
            </a:solidFill>
            <a:round/>
            <a:tailEnd type="triangle" w="med" len="med"/>
          </a:ln>
          <a:effectLst/>
        </p:spPr>
        <p:txBody>
          <a:bodyPr/>
          <a:lstStyle/>
          <a:p>
            <a:endParaRPr lang="zh-CN" altLang="en-US"/>
          </a:p>
        </p:txBody>
      </p:sp>
      <p:sp>
        <p:nvSpPr>
          <p:cNvPr id="9228" name="Text Box 12"/>
          <p:cNvSpPr txBox="1">
            <a:spLocks noChangeArrowheads="1"/>
          </p:cNvSpPr>
          <p:nvPr/>
        </p:nvSpPr>
        <p:spPr bwMode="auto">
          <a:xfrm>
            <a:off x="2830513" y="5445125"/>
            <a:ext cx="3617912" cy="641350"/>
          </a:xfrm>
          <a:prstGeom prst="rect">
            <a:avLst/>
          </a:prstGeom>
          <a:noFill/>
          <a:ln w="9525">
            <a:noFill/>
            <a:miter lim="800000"/>
          </a:ln>
          <a:effectLst/>
        </p:spPr>
        <p:txBody>
          <a:bodyPr>
            <a:spAutoFit/>
          </a:bodyPr>
          <a:lstStyle/>
          <a:p>
            <a:r>
              <a:rPr lang="zh-CN" altLang="en-US">
                <a:solidFill>
                  <a:srgbClr val="FFFF00"/>
                </a:solidFill>
              </a:rPr>
              <a:t>FIGURE 17.8</a:t>
            </a:r>
            <a:r>
              <a:rPr lang="zh-CN" altLang="en-US" b="0">
                <a:solidFill>
                  <a:srgbClr val="FFFF00"/>
                </a:solidFill>
              </a:rPr>
              <a:t> a reorganization of algorithm classifications</a:t>
            </a:r>
            <a:endParaRPr lang="zh-CN" altLang="en-US" b="0">
              <a:solidFill>
                <a:srgbClr val="FFFF00"/>
              </a:solidFill>
            </a:endParaRPr>
          </a:p>
        </p:txBody>
      </p:sp>
      <p:sp>
        <p:nvSpPr>
          <p:cNvPr id="9229" name="AutoShape 13"/>
          <p:cNvSpPr>
            <a:spLocks noChangeArrowheads="1"/>
          </p:cNvSpPr>
          <p:nvPr/>
        </p:nvSpPr>
        <p:spPr bwMode="auto">
          <a:xfrm flipH="1">
            <a:off x="2555875" y="2524125"/>
            <a:ext cx="76200" cy="625475"/>
          </a:xfrm>
          <a:prstGeom prst="downArrow">
            <a:avLst>
              <a:gd name="adj1" fmla="val 50000"/>
              <a:gd name="adj2" fmla="val 205208"/>
            </a:avLst>
          </a:prstGeom>
          <a:solidFill>
            <a:schemeClr val="accent1"/>
          </a:solidFill>
          <a:ln w="9525" cmpd="sng">
            <a:solidFill>
              <a:schemeClr val="tx1"/>
            </a:solidFill>
            <a:miter lim="800000"/>
          </a:ln>
          <a:effectLst/>
        </p:spPr>
        <p:txBody>
          <a:bodyPr vert="eaVert" anchor="ctr"/>
          <a:lstStyle/>
          <a:p>
            <a:endParaRPr lang="zh-CN" altLang="en-US"/>
          </a:p>
        </p:txBody>
      </p:sp>
      <p:sp>
        <p:nvSpPr>
          <p:cNvPr id="9230" name="AutoShape 14"/>
          <p:cNvSpPr>
            <a:spLocks noChangeArrowheads="1"/>
          </p:cNvSpPr>
          <p:nvPr/>
        </p:nvSpPr>
        <p:spPr bwMode="auto">
          <a:xfrm flipH="1">
            <a:off x="4283075" y="2854325"/>
            <a:ext cx="76200" cy="419100"/>
          </a:xfrm>
          <a:prstGeom prst="downArrow">
            <a:avLst>
              <a:gd name="adj1" fmla="val 50000"/>
              <a:gd name="adj2" fmla="val 137500"/>
            </a:avLst>
          </a:prstGeom>
          <a:solidFill>
            <a:schemeClr val="accent1"/>
          </a:solidFill>
          <a:ln w="9525" cmpd="sng">
            <a:solidFill>
              <a:schemeClr val="tx1"/>
            </a:solidFill>
            <a:miter lim="800000"/>
          </a:ln>
          <a:effectLst/>
        </p:spPr>
        <p:txBody>
          <a:bodyPr vert="eaVert" anchor="ctr"/>
          <a:lstStyle/>
          <a:p>
            <a:endParaRPr lang="zh-CN" altLang="en-US"/>
          </a:p>
        </p:txBody>
      </p:sp>
      <p:sp>
        <p:nvSpPr>
          <p:cNvPr id="9231" name="AutoShape 15"/>
          <p:cNvSpPr>
            <a:spLocks noChangeArrowheads="1"/>
          </p:cNvSpPr>
          <p:nvPr/>
        </p:nvSpPr>
        <p:spPr bwMode="auto">
          <a:xfrm flipH="1">
            <a:off x="6083300" y="2646363"/>
            <a:ext cx="76200" cy="711200"/>
          </a:xfrm>
          <a:prstGeom prst="downArrow">
            <a:avLst>
              <a:gd name="adj1" fmla="val 50000"/>
              <a:gd name="adj2" fmla="val 233333"/>
            </a:avLst>
          </a:prstGeom>
          <a:solidFill>
            <a:schemeClr val="accent1"/>
          </a:solidFill>
          <a:ln w="9525" cmpd="sng">
            <a:solidFill>
              <a:schemeClr val="tx1"/>
            </a:solidFill>
            <a:miter lim="800000"/>
          </a:ln>
          <a:effectLst/>
        </p:spPr>
        <p:txBody>
          <a:bodyPr vert="eaVert" anchor="ctr"/>
          <a:lstStyle/>
          <a:p>
            <a:endParaRPr lang="zh-CN" altLang="en-US"/>
          </a:p>
        </p:txBody>
      </p:sp>
    </p:spTree>
  </p:cSld>
  <p:clrMapOvr>
    <a:masterClrMapping/>
  </p:clrMapOvr>
  <p:transition>
    <p:dissolv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a:spLocks noChangeArrowheads="1"/>
          </p:cNvSpPr>
          <p:nvPr/>
        </p:nvSpPr>
        <p:spPr bwMode="auto">
          <a:xfrm>
            <a:off x="2413000" y="3484563"/>
            <a:ext cx="1006475" cy="1871662"/>
          </a:xfrm>
          <a:prstGeom prst="can">
            <a:avLst>
              <a:gd name="adj" fmla="val 46491"/>
            </a:avLst>
          </a:prstGeom>
          <a:solidFill>
            <a:schemeClr val="accent1"/>
          </a:solidFill>
          <a:ln w="9525" cap="flat" cmpd="sng">
            <a:solidFill>
              <a:schemeClr val="tx1"/>
            </a:solidFill>
            <a:round/>
          </a:ln>
          <a:effectLst/>
        </p:spPr>
        <p:txBody>
          <a:bodyPr anchor="ctr"/>
          <a:lstStyle/>
          <a:p>
            <a:endParaRPr lang="zh-CN" altLang="en-US"/>
          </a:p>
        </p:txBody>
      </p:sp>
      <p:sp>
        <p:nvSpPr>
          <p:cNvPr id="10243" name="Text Box 3"/>
          <p:cNvSpPr txBox="1">
            <a:spLocks noChangeArrowheads="1"/>
          </p:cNvSpPr>
          <p:nvPr/>
        </p:nvSpPr>
        <p:spPr bwMode="auto">
          <a:xfrm>
            <a:off x="2195513" y="2159000"/>
            <a:ext cx="1146175" cy="365125"/>
          </a:xfrm>
          <a:prstGeom prst="rect">
            <a:avLst/>
          </a:prstGeom>
          <a:noFill/>
          <a:ln w="9525">
            <a:noFill/>
            <a:miter lim="800000"/>
          </a:ln>
          <a:effectLst/>
        </p:spPr>
        <p:txBody>
          <a:bodyPr>
            <a:spAutoFit/>
          </a:bodyPr>
          <a:lstStyle/>
          <a:p>
            <a:r>
              <a:rPr lang="zh-CN" altLang="en-US">
                <a:solidFill>
                  <a:srgbClr val="FFFF00"/>
                </a:solidFill>
              </a:rPr>
              <a:t>ClassNp</a:t>
            </a:r>
            <a:endParaRPr lang="zh-CN" altLang="en-US">
              <a:solidFill>
                <a:srgbClr val="FFFF00"/>
              </a:solidFill>
            </a:endParaRPr>
          </a:p>
        </p:txBody>
      </p:sp>
      <p:sp>
        <p:nvSpPr>
          <p:cNvPr id="10244" name="Text Box 4"/>
          <p:cNvSpPr txBox="1">
            <a:spLocks noChangeArrowheads="1"/>
          </p:cNvSpPr>
          <p:nvPr/>
        </p:nvSpPr>
        <p:spPr bwMode="auto">
          <a:xfrm>
            <a:off x="3606800" y="2159000"/>
            <a:ext cx="1073150" cy="365125"/>
          </a:xfrm>
          <a:prstGeom prst="rect">
            <a:avLst/>
          </a:prstGeom>
          <a:noFill/>
          <a:ln w="9525">
            <a:noFill/>
            <a:miter lim="800000"/>
          </a:ln>
          <a:effectLst/>
        </p:spPr>
        <p:txBody>
          <a:bodyPr>
            <a:spAutoFit/>
          </a:bodyPr>
          <a:lstStyle/>
          <a:p>
            <a:endParaRPr lang="zh-CN" altLang="zh-CN" b="0"/>
          </a:p>
        </p:txBody>
      </p:sp>
      <p:sp>
        <p:nvSpPr>
          <p:cNvPr id="10245" name="Text Box 5"/>
          <p:cNvSpPr txBox="1">
            <a:spLocks noChangeArrowheads="1"/>
          </p:cNvSpPr>
          <p:nvPr/>
        </p:nvSpPr>
        <p:spPr bwMode="auto">
          <a:xfrm>
            <a:off x="3419475" y="2235200"/>
            <a:ext cx="1657350" cy="914400"/>
          </a:xfrm>
          <a:prstGeom prst="rect">
            <a:avLst/>
          </a:prstGeom>
          <a:noFill/>
          <a:ln w="9525">
            <a:noFill/>
            <a:miter lim="800000"/>
          </a:ln>
          <a:effectLst/>
        </p:spPr>
        <p:txBody>
          <a:bodyPr>
            <a:spAutoFit/>
          </a:bodyPr>
          <a:lstStyle/>
          <a:p>
            <a:r>
              <a:rPr lang="zh-CN" altLang="en-US">
                <a:solidFill>
                  <a:srgbClr val="FFFF00"/>
                </a:solidFill>
              </a:rPr>
              <a:t>Exponential Factorial</a:t>
            </a:r>
            <a:endParaRPr lang="zh-CN" altLang="en-US">
              <a:solidFill>
                <a:srgbClr val="FFFF00"/>
              </a:solidFill>
            </a:endParaRPr>
          </a:p>
          <a:p>
            <a:endParaRPr lang="zh-CN" altLang="en-US">
              <a:solidFill>
                <a:srgbClr val="FFFF00"/>
              </a:solidFill>
            </a:endParaRPr>
          </a:p>
        </p:txBody>
      </p:sp>
      <p:sp>
        <p:nvSpPr>
          <p:cNvPr id="10246" name="Text Box 6"/>
          <p:cNvSpPr txBox="1">
            <a:spLocks noChangeArrowheads="1"/>
          </p:cNvSpPr>
          <p:nvPr/>
        </p:nvSpPr>
        <p:spPr bwMode="auto">
          <a:xfrm>
            <a:off x="5184775" y="2281238"/>
            <a:ext cx="1476375" cy="365125"/>
          </a:xfrm>
          <a:prstGeom prst="rect">
            <a:avLst/>
          </a:prstGeom>
          <a:noFill/>
          <a:ln w="9525">
            <a:noFill/>
            <a:miter lim="800000"/>
          </a:ln>
          <a:effectLst/>
        </p:spPr>
        <p:txBody>
          <a:bodyPr>
            <a:spAutoFit/>
          </a:bodyPr>
          <a:lstStyle/>
          <a:p>
            <a:r>
              <a:rPr lang="zh-CN" altLang="en-US">
                <a:solidFill>
                  <a:srgbClr val="FFFF00"/>
                </a:solidFill>
              </a:rPr>
              <a:t>Unsolvable</a:t>
            </a:r>
            <a:endParaRPr lang="zh-CN" altLang="en-US">
              <a:solidFill>
                <a:srgbClr val="FFFF00"/>
              </a:solidFill>
            </a:endParaRPr>
          </a:p>
        </p:txBody>
      </p:sp>
      <p:sp>
        <p:nvSpPr>
          <p:cNvPr id="10247" name="箭头 182"/>
          <p:cNvSpPr>
            <a:spLocks noChangeShapeType="1"/>
          </p:cNvSpPr>
          <p:nvPr/>
        </p:nvSpPr>
        <p:spPr bwMode="auto">
          <a:xfrm>
            <a:off x="4283075" y="2854325"/>
            <a:ext cx="1588" cy="503238"/>
          </a:xfrm>
          <a:prstGeom prst="line">
            <a:avLst/>
          </a:prstGeom>
          <a:noFill/>
          <a:ln w="9525" cap="flat" cmpd="sng">
            <a:solidFill>
              <a:schemeClr val="tx1"/>
            </a:solidFill>
            <a:round/>
            <a:tailEnd type="triangle" w="med" len="med"/>
          </a:ln>
          <a:effectLst/>
        </p:spPr>
        <p:txBody>
          <a:bodyPr/>
          <a:lstStyle/>
          <a:p>
            <a:endParaRPr lang="zh-CN" altLang="en-US"/>
          </a:p>
        </p:txBody>
      </p:sp>
      <p:sp>
        <p:nvSpPr>
          <p:cNvPr id="10248" name="箭头 184"/>
          <p:cNvSpPr>
            <a:spLocks noChangeShapeType="1"/>
          </p:cNvSpPr>
          <p:nvPr/>
        </p:nvSpPr>
        <p:spPr bwMode="auto">
          <a:xfrm>
            <a:off x="6083300" y="2646363"/>
            <a:ext cx="1588" cy="627062"/>
          </a:xfrm>
          <a:prstGeom prst="line">
            <a:avLst/>
          </a:prstGeom>
          <a:noFill/>
          <a:ln w="9525" cap="flat" cmpd="sng">
            <a:solidFill>
              <a:schemeClr val="tx1"/>
            </a:solidFill>
            <a:round/>
            <a:tailEnd type="triangle" w="med" len="med"/>
          </a:ln>
          <a:effectLst/>
        </p:spPr>
        <p:txBody>
          <a:bodyPr/>
          <a:lstStyle/>
          <a:p>
            <a:endParaRPr lang="zh-CN" altLang="en-US"/>
          </a:p>
        </p:txBody>
      </p:sp>
      <p:sp>
        <p:nvSpPr>
          <p:cNvPr id="10249" name="Text Box 9"/>
          <p:cNvSpPr txBox="1">
            <a:spLocks noChangeArrowheads="1"/>
          </p:cNvSpPr>
          <p:nvPr/>
        </p:nvSpPr>
        <p:spPr bwMode="auto">
          <a:xfrm>
            <a:off x="2830513" y="5445125"/>
            <a:ext cx="3617912" cy="366713"/>
          </a:xfrm>
          <a:prstGeom prst="rect">
            <a:avLst/>
          </a:prstGeom>
          <a:noFill/>
          <a:ln w="9525">
            <a:noFill/>
            <a:miter lim="800000"/>
          </a:ln>
          <a:effectLst/>
        </p:spPr>
        <p:txBody>
          <a:bodyPr>
            <a:spAutoFit/>
          </a:bodyPr>
          <a:lstStyle/>
          <a:p>
            <a:r>
              <a:rPr lang="zh-CN" altLang="en-US">
                <a:solidFill>
                  <a:srgbClr val="FFFF00"/>
                </a:solidFill>
              </a:rPr>
              <a:t>FIGURE 17.9</a:t>
            </a:r>
            <a:r>
              <a:rPr lang="zh-CN" altLang="en-US" b="0">
                <a:solidFill>
                  <a:srgbClr val="FFFF00"/>
                </a:solidFill>
              </a:rPr>
              <a:t>  Adding Class NP</a:t>
            </a:r>
            <a:endParaRPr lang="zh-CN" altLang="en-US" b="0">
              <a:solidFill>
                <a:srgbClr val="FFFF00"/>
              </a:solidFill>
            </a:endParaRPr>
          </a:p>
        </p:txBody>
      </p:sp>
      <p:sp>
        <p:nvSpPr>
          <p:cNvPr id="10250" name="AutoShape 10"/>
          <p:cNvSpPr>
            <a:spLocks noChangeArrowheads="1"/>
          </p:cNvSpPr>
          <p:nvPr/>
        </p:nvSpPr>
        <p:spPr bwMode="auto">
          <a:xfrm>
            <a:off x="1187450" y="3484563"/>
            <a:ext cx="1008063" cy="1871662"/>
          </a:xfrm>
          <a:prstGeom prst="can">
            <a:avLst>
              <a:gd name="adj" fmla="val 46417"/>
            </a:avLst>
          </a:prstGeom>
          <a:solidFill>
            <a:schemeClr val="accent1"/>
          </a:solidFill>
          <a:ln w="9525" cap="flat" cmpd="sng">
            <a:solidFill>
              <a:schemeClr val="tx1"/>
            </a:solidFill>
            <a:round/>
          </a:ln>
          <a:effectLst/>
        </p:spPr>
        <p:txBody>
          <a:bodyPr anchor="ctr"/>
          <a:lstStyle/>
          <a:p>
            <a:endParaRPr lang="zh-CN" altLang="en-US"/>
          </a:p>
        </p:txBody>
      </p:sp>
      <p:sp>
        <p:nvSpPr>
          <p:cNvPr id="10251" name="AutoShape 11"/>
          <p:cNvSpPr>
            <a:spLocks noChangeArrowheads="1"/>
          </p:cNvSpPr>
          <p:nvPr/>
        </p:nvSpPr>
        <p:spPr bwMode="auto">
          <a:xfrm>
            <a:off x="3781425" y="3484563"/>
            <a:ext cx="1006475" cy="1871662"/>
          </a:xfrm>
          <a:prstGeom prst="can">
            <a:avLst>
              <a:gd name="adj" fmla="val 46491"/>
            </a:avLst>
          </a:prstGeom>
          <a:solidFill>
            <a:schemeClr val="accent1"/>
          </a:solidFill>
          <a:ln w="9525" cap="flat" cmpd="sng">
            <a:solidFill>
              <a:schemeClr val="tx1"/>
            </a:solidFill>
            <a:round/>
          </a:ln>
          <a:effectLst/>
        </p:spPr>
        <p:txBody>
          <a:bodyPr anchor="ctr"/>
          <a:lstStyle/>
          <a:p>
            <a:endParaRPr lang="zh-CN" altLang="en-US"/>
          </a:p>
        </p:txBody>
      </p:sp>
      <p:sp>
        <p:nvSpPr>
          <p:cNvPr id="10252" name="AutoShape 12"/>
          <p:cNvSpPr>
            <a:spLocks noChangeArrowheads="1"/>
          </p:cNvSpPr>
          <p:nvPr/>
        </p:nvSpPr>
        <p:spPr bwMode="auto">
          <a:xfrm>
            <a:off x="5580063" y="3484563"/>
            <a:ext cx="1008062" cy="1871662"/>
          </a:xfrm>
          <a:prstGeom prst="can">
            <a:avLst>
              <a:gd name="adj" fmla="val 46417"/>
            </a:avLst>
          </a:prstGeom>
          <a:solidFill>
            <a:schemeClr val="accent1"/>
          </a:solidFill>
          <a:ln w="9525" cap="flat" cmpd="sng">
            <a:solidFill>
              <a:schemeClr val="tx1"/>
            </a:solidFill>
            <a:round/>
          </a:ln>
          <a:effectLst/>
        </p:spPr>
        <p:txBody>
          <a:bodyPr anchor="ctr"/>
          <a:lstStyle/>
          <a:p>
            <a:endParaRPr lang="zh-CN" altLang="en-US"/>
          </a:p>
        </p:txBody>
      </p:sp>
      <p:sp>
        <p:nvSpPr>
          <p:cNvPr id="10253" name="箭头 208"/>
          <p:cNvSpPr>
            <a:spLocks noChangeShapeType="1"/>
          </p:cNvSpPr>
          <p:nvPr/>
        </p:nvSpPr>
        <p:spPr bwMode="auto">
          <a:xfrm>
            <a:off x="2830513" y="2524125"/>
            <a:ext cx="1587" cy="749300"/>
          </a:xfrm>
          <a:prstGeom prst="line">
            <a:avLst/>
          </a:prstGeom>
          <a:noFill/>
          <a:ln w="9525" cmpd="sng">
            <a:solidFill>
              <a:schemeClr val="tx1"/>
            </a:solidFill>
            <a:round/>
            <a:tailEnd type="triangle" w="med" len="med"/>
          </a:ln>
          <a:effectLst/>
        </p:spPr>
        <p:txBody>
          <a:bodyPr/>
          <a:lstStyle/>
          <a:p>
            <a:endParaRPr lang="zh-CN" altLang="en-US"/>
          </a:p>
        </p:txBody>
      </p:sp>
      <p:sp>
        <p:nvSpPr>
          <p:cNvPr id="10254" name="Text Box 14"/>
          <p:cNvSpPr txBox="1">
            <a:spLocks noChangeArrowheads="1"/>
          </p:cNvSpPr>
          <p:nvPr/>
        </p:nvSpPr>
        <p:spPr bwMode="auto">
          <a:xfrm>
            <a:off x="900113" y="2387600"/>
            <a:ext cx="1085850" cy="366713"/>
          </a:xfrm>
          <a:prstGeom prst="rect">
            <a:avLst/>
          </a:prstGeom>
          <a:noFill/>
          <a:ln w="9525">
            <a:noFill/>
            <a:miter lim="800000"/>
          </a:ln>
          <a:effectLst/>
        </p:spPr>
        <p:txBody>
          <a:bodyPr>
            <a:spAutoFit/>
          </a:bodyPr>
          <a:lstStyle/>
          <a:p>
            <a:r>
              <a:rPr lang="zh-CN" altLang="en-US">
                <a:solidFill>
                  <a:srgbClr val="FFFF00"/>
                </a:solidFill>
              </a:rPr>
              <a:t>Class p</a:t>
            </a:r>
            <a:endParaRPr lang="zh-CN" altLang="en-US">
              <a:solidFill>
                <a:srgbClr val="FFFF00"/>
              </a:solidFill>
            </a:endParaRPr>
          </a:p>
        </p:txBody>
      </p:sp>
      <p:sp>
        <p:nvSpPr>
          <p:cNvPr id="10255" name="箭头 211"/>
          <p:cNvSpPr>
            <a:spLocks noChangeShapeType="1"/>
          </p:cNvSpPr>
          <p:nvPr/>
        </p:nvSpPr>
        <p:spPr bwMode="auto">
          <a:xfrm>
            <a:off x="1547813" y="2754313"/>
            <a:ext cx="0" cy="519112"/>
          </a:xfrm>
          <a:prstGeom prst="line">
            <a:avLst/>
          </a:prstGeom>
          <a:noFill/>
          <a:ln w="9525" cmpd="sng">
            <a:solidFill>
              <a:schemeClr val="tx1"/>
            </a:solidFill>
            <a:round/>
            <a:tailEnd type="triangle" w="med" len="med"/>
          </a:ln>
          <a:effectLst/>
        </p:spPr>
        <p:txBody>
          <a:bodyPr/>
          <a:lstStyle/>
          <a:p>
            <a:endParaRPr lang="zh-CN" altLang="en-US"/>
          </a:p>
        </p:txBody>
      </p:sp>
      <p:sp>
        <p:nvSpPr>
          <p:cNvPr id="10256" name="AutoShape 16"/>
          <p:cNvSpPr>
            <a:spLocks noChangeArrowheads="1"/>
          </p:cNvSpPr>
          <p:nvPr/>
        </p:nvSpPr>
        <p:spPr bwMode="auto">
          <a:xfrm>
            <a:off x="1547813" y="2754313"/>
            <a:ext cx="76200" cy="603250"/>
          </a:xfrm>
          <a:prstGeom prst="downArrow">
            <a:avLst>
              <a:gd name="adj1" fmla="val 50000"/>
              <a:gd name="adj2" fmla="val 197917"/>
            </a:avLst>
          </a:prstGeom>
          <a:solidFill>
            <a:schemeClr val="accent1"/>
          </a:solidFill>
          <a:ln w="9525" cmpd="sng">
            <a:solidFill>
              <a:schemeClr val="tx1"/>
            </a:solidFill>
            <a:miter lim="800000"/>
          </a:ln>
          <a:effectLst/>
        </p:spPr>
        <p:txBody>
          <a:bodyPr vert="eaVert" anchor="ctr"/>
          <a:lstStyle/>
          <a:p>
            <a:endParaRPr lang="zh-CN" altLang="en-US"/>
          </a:p>
        </p:txBody>
      </p:sp>
      <p:sp>
        <p:nvSpPr>
          <p:cNvPr id="10257" name="AutoShape 17"/>
          <p:cNvSpPr>
            <a:spLocks noChangeArrowheads="1"/>
          </p:cNvSpPr>
          <p:nvPr/>
        </p:nvSpPr>
        <p:spPr bwMode="auto">
          <a:xfrm>
            <a:off x="2832100" y="2646363"/>
            <a:ext cx="76200" cy="627062"/>
          </a:xfrm>
          <a:prstGeom prst="downArrow">
            <a:avLst>
              <a:gd name="adj1" fmla="val 50000"/>
              <a:gd name="adj2" fmla="val 205729"/>
            </a:avLst>
          </a:prstGeom>
          <a:solidFill>
            <a:schemeClr val="accent1"/>
          </a:solidFill>
          <a:ln w="9525" cmpd="sng">
            <a:solidFill>
              <a:schemeClr val="tx1"/>
            </a:solidFill>
            <a:miter lim="800000"/>
          </a:ln>
          <a:effectLst/>
        </p:spPr>
        <p:txBody>
          <a:bodyPr vert="eaVert" anchor="ctr"/>
          <a:lstStyle/>
          <a:p>
            <a:endParaRPr lang="zh-CN" altLang="en-US"/>
          </a:p>
        </p:txBody>
      </p:sp>
      <p:sp>
        <p:nvSpPr>
          <p:cNvPr id="10258" name="AutoShape 18"/>
          <p:cNvSpPr>
            <a:spLocks noChangeArrowheads="1"/>
          </p:cNvSpPr>
          <p:nvPr/>
        </p:nvSpPr>
        <p:spPr bwMode="auto">
          <a:xfrm flipH="1">
            <a:off x="4283075" y="2854325"/>
            <a:ext cx="76200" cy="630238"/>
          </a:xfrm>
          <a:prstGeom prst="downArrow">
            <a:avLst>
              <a:gd name="adj1" fmla="val 50000"/>
              <a:gd name="adj2" fmla="val 206771"/>
            </a:avLst>
          </a:prstGeom>
          <a:solidFill>
            <a:schemeClr val="accent1"/>
          </a:solidFill>
          <a:ln w="9525" cmpd="sng">
            <a:solidFill>
              <a:schemeClr val="tx1"/>
            </a:solidFill>
            <a:miter lim="800000"/>
          </a:ln>
          <a:effectLst/>
        </p:spPr>
        <p:txBody>
          <a:bodyPr vert="eaVert" anchor="ctr"/>
          <a:lstStyle/>
          <a:p>
            <a:endParaRPr lang="zh-CN" altLang="en-US"/>
          </a:p>
        </p:txBody>
      </p:sp>
      <p:sp>
        <p:nvSpPr>
          <p:cNvPr id="10259" name="AutoShape 19"/>
          <p:cNvSpPr>
            <a:spLocks noChangeArrowheads="1"/>
          </p:cNvSpPr>
          <p:nvPr/>
        </p:nvSpPr>
        <p:spPr bwMode="auto">
          <a:xfrm flipH="1">
            <a:off x="6083300" y="2754313"/>
            <a:ext cx="76200" cy="603250"/>
          </a:xfrm>
          <a:prstGeom prst="downArrow">
            <a:avLst>
              <a:gd name="adj1" fmla="val 50000"/>
              <a:gd name="adj2" fmla="val 197917"/>
            </a:avLst>
          </a:prstGeom>
          <a:solidFill>
            <a:schemeClr val="accent1"/>
          </a:solidFill>
          <a:ln w="9525" cmpd="sng">
            <a:solidFill>
              <a:schemeClr val="tx1"/>
            </a:solidFill>
            <a:miter lim="800000"/>
          </a:ln>
          <a:effectLst/>
        </p:spPr>
        <p:txBody>
          <a:bodyPr vert="eaVert" anchor="ctr"/>
          <a:lstStyle/>
          <a:p>
            <a:endParaRPr lang="zh-CN" altLang="en-US"/>
          </a:p>
        </p:txBody>
      </p:sp>
    </p:spTree>
  </p:cSld>
  <p:clrMapOvr>
    <a:masterClrMapping/>
  </p:clrMapOvr>
  <p:transition>
    <p:dissolv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zh-CN" altLang="en-US" sz="4000">
                <a:solidFill>
                  <a:schemeClr val="bg1"/>
                </a:solidFill>
              </a:rPr>
              <a:t>The Traveling Salesman problem</a:t>
            </a:r>
            <a:endParaRPr lang="zh-CN" altLang="en-US" sz="4000">
              <a:solidFill>
                <a:schemeClr val="bg1"/>
              </a:solidFill>
            </a:endParaRPr>
          </a:p>
        </p:txBody>
      </p:sp>
      <p:sp>
        <p:nvSpPr>
          <p:cNvPr id="11267" name="Rectangle 3"/>
          <p:cNvSpPr>
            <a:spLocks noGrp="1" noChangeArrowheads="1"/>
          </p:cNvSpPr>
          <p:nvPr>
            <p:ph idx="1"/>
          </p:nvPr>
        </p:nvSpPr>
        <p:spPr/>
        <p:txBody>
          <a:bodyPr/>
          <a:lstStyle/>
          <a:p>
            <a:r>
              <a:rPr lang="zh-CN" altLang="en-US">
                <a:solidFill>
                  <a:srgbClr val="FFFF00"/>
                </a:solidFill>
              </a:rPr>
              <a:t>A classic NP problem is called the </a:t>
            </a:r>
            <a:r>
              <a:rPr lang="zh-CN" altLang="en-US">
                <a:solidFill>
                  <a:srgbClr val="66FFFF"/>
                </a:solidFill>
              </a:rPr>
              <a:t>Travelling Salesman problem</a:t>
            </a:r>
            <a:r>
              <a:rPr lang="zh-CN" altLang="en-US">
                <a:solidFill>
                  <a:srgbClr val="FFFF00"/>
                </a:solidFill>
              </a:rPr>
              <a:t>.</a:t>
            </a:r>
            <a:endParaRPr lang="zh-CN" altLang="en-US">
              <a:solidFill>
                <a:srgbClr val="FFFF00"/>
              </a:solidFill>
            </a:endParaRPr>
          </a:p>
          <a:p>
            <a:r>
              <a:rPr lang="zh-CN" altLang="en-US">
                <a:solidFill>
                  <a:srgbClr val="FFFF00"/>
                </a:solidFill>
              </a:rPr>
              <a:t>A well-known </a:t>
            </a:r>
            <a:r>
              <a:rPr lang="zh-CN" altLang="en-US">
                <a:solidFill>
                  <a:srgbClr val="66FFFF"/>
                </a:solidFill>
              </a:rPr>
              <a:t>graph algorithm</a:t>
            </a:r>
            <a:endParaRPr lang="zh-CN" altLang="en-US">
              <a:solidFill>
                <a:srgbClr val="66FFFF"/>
              </a:solidFill>
            </a:endParaRPr>
          </a:p>
          <a:p>
            <a:r>
              <a:rPr lang="zh-CN" altLang="en-US">
                <a:solidFill>
                  <a:srgbClr val="FFFF00"/>
                </a:solidFill>
              </a:rPr>
              <a:t>The solution with one processor is</a:t>
            </a:r>
            <a:r>
              <a:rPr lang="zh-CN" altLang="en-US">
                <a:solidFill>
                  <a:srgbClr val="66FFFF"/>
                </a:solidFill>
              </a:rPr>
              <a:t> o(n!)</a:t>
            </a:r>
            <a:endParaRPr lang="zh-CN" altLang="en-US">
              <a:solidFill>
                <a:srgbClr val="66FFFF"/>
              </a:solidFil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zh-CN" altLang="en-US">
                <a:solidFill>
                  <a:schemeClr val="bg1"/>
                </a:solidFill>
              </a:rPr>
              <a:t>Summary</a:t>
            </a:r>
            <a:endParaRPr lang="zh-CN" altLang="en-US">
              <a:solidFill>
                <a:schemeClr val="bg1"/>
              </a:solidFill>
            </a:endParaRPr>
          </a:p>
        </p:txBody>
      </p:sp>
      <p:sp>
        <p:nvSpPr>
          <p:cNvPr id="12291" name="Rectangle 3"/>
          <p:cNvSpPr>
            <a:spLocks noGrp="1" noChangeArrowheads="1"/>
          </p:cNvSpPr>
          <p:nvPr>
            <p:ph idx="1"/>
          </p:nvPr>
        </p:nvSpPr>
        <p:spPr/>
        <p:txBody>
          <a:bodyPr/>
          <a:lstStyle/>
          <a:p>
            <a:pPr>
              <a:lnSpc>
                <a:spcPct val="90000"/>
              </a:lnSpc>
            </a:pPr>
            <a:r>
              <a:rPr lang="zh-CN" altLang="en-US">
                <a:solidFill>
                  <a:srgbClr val="FFFF00"/>
                </a:solidFill>
              </a:rPr>
              <a:t>Limits are imposed on computer  problem solving by the </a:t>
            </a:r>
            <a:r>
              <a:rPr lang="zh-CN" altLang="en-US">
                <a:solidFill>
                  <a:srgbClr val="66FFFF"/>
                </a:solidFill>
              </a:rPr>
              <a:t>hardware</a:t>
            </a:r>
            <a:r>
              <a:rPr lang="zh-CN" altLang="en-US">
                <a:solidFill>
                  <a:srgbClr val="FFFF00"/>
                </a:solidFill>
              </a:rPr>
              <a:t>,the </a:t>
            </a:r>
            <a:r>
              <a:rPr lang="zh-CN" altLang="en-US">
                <a:solidFill>
                  <a:srgbClr val="66FFFF"/>
                </a:solidFill>
              </a:rPr>
              <a:t>software</a:t>
            </a:r>
            <a:r>
              <a:rPr lang="zh-CN" altLang="en-US">
                <a:solidFill>
                  <a:srgbClr val="FFFF00"/>
                </a:solidFill>
              </a:rPr>
              <a:t>,and </a:t>
            </a:r>
            <a:r>
              <a:rPr lang="zh-CN" altLang="en-US">
                <a:solidFill>
                  <a:srgbClr val="66FFFF"/>
                </a:solidFill>
              </a:rPr>
              <a:t>the nature</a:t>
            </a:r>
            <a:r>
              <a:rPr lang="zh-CN" altLang="en-US">
                <a:solidFill>
                  <a:srgbClr val="FFFF00"/>
                </a:solidFill>
              </a:rPr>
              <a:t> of the problems to be solved.</a:t>
            </a:r>
            <a:endParaRPr lang="zh-CN" altLang="en-US">
              <a:solidFill>
                <a:srgbClr val="FFFF00"/>
              </a:solidFill>
            </a:endParaRPr>
          </a:p>
          <a:p>
            <a:pPr>
              <a:lnSpc>
                <a:spcPct val="90000"/>
              </a:lnSpc>
            </a:pPr>
            <a:r>
              <a:rPr lang="zh-CN" altLang="en-US">
                <a:solidFill>
                  <a:srgbClr val="FFFF00"/>
                </a:solidFill>
              </a:rPr>
              <a:t>The sheer </a:t>
            </a:r>
            <a:r>
              <a:rPr lang="zh-CN" altLang="en-US">
                <a:solidFill>
                  <a:srgbClr val="66FFFF"/>
                </a:solidFill>
              </a:rPr>
              <a:t>size</a:t>
            </a:r>
            <a:r>
              <a:rPr lang="zh-CN" altLang="en-US">
                <a:solidFill>
                  <a:srgbClr val="FFFF00"/>
                </a:solidFill>
              </a:rPr>
              <a:t> and </a:t>
            </a:r>
            <a:r>
              <a:rPr lang="zh-CN" altLang="en-US">
                <a:solidFill>
                  <a:srgbClr val="66FFFF"/>
                </a:solidFill>
              </a:rPr>
              <a:t>complexity </a:t>
            </a:r>
            <a:r>
              <a:rPr lang="zh-CN" altLang="en-US">
                <a:solidFill>
                  <a:srgbClr val="FFFF00"/>
                </a:solidFill>
              </a:rPr>
              <a:t>of large software projects almost guarantee that errors will occur.</a:t>
            </a:r>
            <a:endParaRPr lang="zh-CN" altLang="en-US">
              <a:solidFill>
                <a:srgbClr val="FFFF00"/>
              </a:solidFill>
            </a:endParaRPr>
          </a:p>
          <a:p>
            <a:pPr>
              <a:lnSpc>
                <a:spcPct val="90000"/>
              </a:lnSpc>
            </a:pPr>
            <a:r>
              <a:rPr lang="zh-CN" altLang="en-US">
                <a:solidFill>
                  <a:srgbClr val="FFFF00"/>
                </a:solidFill>
              </a:rPr>
              <a:t>Problems </a:t>
            </a:r>
            <a:r>
              <a:rPr lang="zh-CN" altLang="en-US">
                <a:solidFill>
                  <a:srgbClr val="66FFFF"/>
                </a:solidFill>
              </a:rPr>
              <a:t>vary from</a:t>
            </a:r>
            <a:r>
              <a:rPr lang="zh-CN" altLang="en-US">
                <a:solidFill>
                  <a:srgbClr val="FFFF00"/>
                </a:solidFill>
              </a:rPr>
              <a:t> those that are very simple to solve to those that cannot  be solved at all.</a:t>
            </a:r>
            <a:endParaRPr lang="zh-CN" altLang="en-US">
              <a:solidFill>
                <a:srgbClr val="FFFF00"/>
              </a:solidFill>
            </a:endParaRPr>
          </a:p>
          <a:p>
            <a:pPr>
              <a:lnSpc>
                <a:spcPct val="90000"/>
              </a:lnSpc>
            </a:pPr>
            <a:endParaRPr lang="zh-CN" altLang="en-US">
              <a:solidFill>
                <a:srgbClr val="FFFF00"/>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hap4-OS-new">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楷体_GB2312"/>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Chap4-OS-new</Template>
  <TotalTime>0</TotalTime>
  <Words>7313</Words>
  <Application>WPS 演示</Application>
  <PresentationFormat>全屏显示(4:3)</PresentationFormat>
  <Paragraphs>404</Paragraphs>
  <Slides>30</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30</vt:i4>
      </vt:variant>
    </vt:vector>
  </HeadingPairs>
  <TitlesOfParts>
    <vt:vector size="44" baseType="lpstr">
      <vt:lpstr>Arial</vt:lpstr>
      <vt:lpstr>宋体</vt:lpstr>
      <vt:lpstr>Wingdings</vt:lpstr>
      <vt:lpstr>Times New Roman</vt:lpstr>
      <vt:lpstr>楷体_GB2312</vt:lpstr>
      <vt:lpstr>Wingdings 2</vt:lpstr>
      <vt:lpstr>微软雅黑</vt:lpstr>
      <vt:lpstr>Arial Unicode MS</vt:lpstr>
      <vt:lpstr>新宋体</vt:lpstr>
      <vt:lpstr>Calibri</vt:lpstr>
      <vt:lpstr>Constantia</vt:lpstr>
      <vt:lpstr>Chiller</vt:lpstr>
      <vt:lpstr>Arial Unicode MS</vt:lpstr>
      <vt:lpstr>Chap4-OS-new</vt:lpstr>
      <vt:lpstr>Limitations of Computing</vt:lpstr>
      <vt:lpstr>Outline</vt:lpstr>
      <vt:lpstr>Limitation of Computing</vt:lpstr>
      <vt:lpstr>Part1 Hardware</vt:lpstr>
      <vt:lpstr>Limits On Arithmetic</vt:lpstr>
      <vt:lpstr>PowerPoint 演示文稿</vt:lpstr>
      <vt:lpstr>Limits On Arithmetic</vt:lpstr>
      <vt:lpstr>Limits Of Components</vt:lpstr>
      <vt:lpstr>Limits Of Communications </vt:lpstr>
      <vt:lpstr>Part2 Software</vt:lpstr>
      <vt:lpstr>Limits Of Software</vt:lpstr>
      <vt:lpstr>Software Error</vt:lpstr>
      <vt:lpstr>Software Error</vt:lpstr>
      <vt:lpstr>Part3 Problems</vt:lpstr>
      <vt:lpstr>Comparing Algorithms</vt:lpstr>
      <vt:lpstr>Comparing Algorithms</vt:lpstr>
      <vt:lpstr>Comparing Algorithms</vt:lpstr>
      <vt:lpstr>Comparing Algorithms</vt:lpstr>
      <vt:lpstr>Comparing Algorithms</vt:lpstr>
      <vt:lpstr>Comparing Algorithms</vt:lpstr>
      <vt:lpstr>Turing Machines</vt:lpstr>
      <vt:lpstr>Halting Problem</vt:lpstr>
      <vt:lpstr>PowerPoint 演示文稿</vt:lpstr>
      <vt:lpstr>PowerPoint 演示文稿</vt:lpstr>
      <vt:lpstr>PowerPoint 演示文稿</vt:lpstr>
      <vt:lpstr>Classification of Algorithms</vt:lpstr>
      <vt:lpstr>PowerPoint 演示文稿</vt:lpstr>
      <vt:lpstr>PowerPoint 演示文稿</vt:lpstr>
      <vt:lpstr>The Traveling Salesman problem</vt:lpstr>
      <vt:lpstr>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Emily</dc:creator>
  <cp:lastModifiedBy>zhaofengnian</cp:lastModifiedBy>
  <cp:revision>39</cp:revision>
  <dcterms:created xsi:type="dcterms:W3CDTF">2014-10-29T08:52:00Z</dcterms:created>
  <dcterms:modified xsi:type="dcterms:W3CDTF">2019-09-05T13:29:28Z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ies>
</file>